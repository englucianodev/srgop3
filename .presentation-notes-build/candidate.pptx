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3.jpg" ContentType="image/jpeg"/>
  <Override PartName="/ppt/notesSlides/notesSlide5.xml" ContentType="application/vnd.openxmlformats-officedocument.presentationml.notesSlide+xml"/>
  <Override PartName="/ppt/media/image4.jpg" ContentType="image/jpeg"/>
  <Override PartName="/ppt/media/image5.jpg" ContentType="image/jpeg"/>
  <Override PartName="/ppt/media/image6.jpg" ContentType="image/jpe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7.jpg" ContentType="image/jpeg"/>
  <Override PartName="/ppt/notesSlides/notesSlide8.xml" ContentType="application/vnd.openxmlformats-officedocument.presentationml.notesSlide+xml"/>
  <Override PartName="/ppt/media/image8.jpg" ContentType="image/jpeg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0818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/>
              <a:t>Roteiro completo: aproximadamente 12 minutos e 35 segundos, com pequenas pausas. Os tempos são orientativos.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FALA DA APRESENTAÇÃO</a:t>
            </a:r>
          </a:p>
          <a:p>
            <a:r>
              <a:rPr lang="pt-BR" sz="1200"/>
              <a:t>Tempo sugerido: 0:40. Tempo acumulado: 0:00 a 0:40.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Olá, pessoal. Somos Wenderson de Jesus da Costa Silva e Luciano Ferreira Pontes, do curso de Análise e Desenvolvimento de Sistemas da Universidade Estadual do Maranhão. Hoje vamos apresentar o Vida Útil+, nosso projeto voltado ao consumo sustentável.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A proposta é reunir informações sobre produtos e sua durabilidade em uma aplicação simples de consultar. Ao longo da apresentação, vamos explicar o problema que motivou o trabalho, mostrar como a aplicação funciona e comentar as tecnologias, os testes e a publicação. O ponto de partida é uma situação que faz parte do nosso dia a dia: a decisão de conservar, reparar ou substituir um produto.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Referência de apoio (não ler em voz alta): Relatório, páginas 1, 2 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/>
              <a:t>FALA DA APRESENTAÇÃO</a:t>
            </a:r>
          </a:p>
          <a:p>
            <a:r>
              <a:rPr lang="pt-BR" sz="1200"/>
              <a:t>Tempo sugerido: 1:00. Tempo acumulado: 0:40 a 1:40.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O problema que orientou o projeto foi o descarte prematuro de bens de consumo, associado à dificuldade de encontrar informações simples sobre a durabilidade desses produtos.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Pensem, por exemplo, em alguém que percebe um problema em um objeto de uso cotidiano. Antes de decidir pela troca, essa pessoa poderia procurar orientações sobre conservação ou sobre a possibilidade de reparo. Esse exemplo ajuda a entender a necessidade que motivou o Vida Útil+.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Nossa proposta é organizar essas informações em um catálogo acessível. Nele, o usuário pode pesquisar produtos, filtrar categorias e consultar detalhes. Também pode participar por meio do cadastro de novos itens.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A intenção é apoiar uma reflexão sobre o uso dos produtos e sobre seu destino quando deixam de ser utilizados. É dessa relação entre informação e consumo que surge a conexão com o ODS 12.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Referência de apoio (não ler em voz alta): Relatório, seção 1, página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/>
              <a:t>FALA DA APRESENTAÇÃO</a:t>
            </a:r>
          </a:p>
          <a:p>
            <a:r>
              <a:rPr lang="pt-BR" sz="1200"/>
              <a:t>Tempo sugerido: 0:50. Tempo acumulado: 1:40 a 2:30.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O ODS 12 é o Objetivo de Desenvolvimento Sustentável relacionado ao consumo e à produção responsáveis. No nosso trabalho, essa conexão aparece principalmente no incentivo ao uso consciente dos produtos e à redução do descarte prematuro.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O público-alvo são consumidores em geral, especialmente pessoas que desejam conhecer melhor a durabilidade dos bens que utilizam. Por isso, procuramos manter uma experiência simples, sem exigir conhecimento técnico para consultar o catálogo.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O objetivo da aplicação combina consulta e participação. A pessoa pode buscar informações e também cadastrar produtos para complementar os registros disponíveis no protótipo. A ideia é aproximar o tema da sustentabilidade de ações fáceis de compreender, como cuidar melhor de um item e considerar seu reparo. A partir dessa proposta, passamos ao desenvolvimento da aplicação.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Referência de apoio (não ler em voz alta): Relatório, seção 1, página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/>
              <a:t>FALA DA APRESENTAÇÃO</a:t>
            </a:r>
          </a:p>
          <a:p>
            <a:r>
              <a:rPr lang="pt-BR" sz="1200"/>
              <a:t>Tempo sugerido: 1:05. Tempo acumulado: 2:30 a 3:35.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A principal mudança nesta etapa foi transformar uma interface inicialmente estática em uma aplicação interativa. Antes, o foco estava na apresentação visual. Na finalização, acrescentamos comportamentos que respondem às ações do usuário.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Organizamos o cabeçalho, a área de apresentação, o catálogo e as demais seções. Também criamos telas para cadastro, login, gerenciamento de produtos e consulta de detalhes. Quando alguém digita uma pesquisa ou escolhe uma categoria, a lista acompanha essa escolha.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Outro recurso foi a persistência local, feita com o localStorage, um espaço de armazenamento do navegador. Ele permite manter os dados de usuários, a sessão e os produtos cadastrados após atualizar a página. Esses registros ficam vinculados àquele navegador e ao endereço da aplicação. Portanto, não aparecem automaticamente em outro dispositivo.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Além dessas funcionalidades, adaptamos a interface a diferentes tamanhos de tela. Para implementar esse conjunto de recursos, utilizamos as tecnologias do próximo slide.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Referência de apoio (não ler em voz alta): Relatório, seções 2.1 a 2.3, páginas 4 a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/>
              <a:t>FALA DA APRESENTAÇÃO</a:t>
            </a:r>
          </a:p>
          <a:p>
            <a:r>
              <a:rPr lang="pt-BR" sz="1200"/>
              <a:t>Tempo sugerido: 1:20. Tempo acumulado: 4:40 a 6:00.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Este slide resume o fluxo da aplicação. O usuário começa na página inicial, onde encontra a apresentação do projeto e o catálogo. Para localizar um item, pode pesquisar pelo nome e selecionar uma categoria. Esses critérios atualizam os resultados exibidos.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A aplicação também oferece cadastro e login. Depois de entrar, o usuário acessa a área do sistema e pode cadastrar ou editar produtos. O formulário inclui nome, categoria, vida útil, descrição, dicas de conservação, possibilidade de reparo e orientação para descarte responsável. O registro recebe a identificação de quem o cadastrou.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Ao abrir os detalhes, a pessoa consulta as informações disponíveis sobre aquele produto. É nesse ponto que a proposta do catálogo ganha utilidade: reunir orientações para ajudar a compreender melhor o item.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O login demonstra o fluxo de autenticação dentro do escopo acadêmico. A sessão pode ser recuperada após atualizar a página, e o logout remove o registro da sessão. Como esse funcionamento usa armazenamento local, o compartilhamento de contas e produtos entre dispositivos ainda depende de uma evolução com servidor e banco de dados.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Referência de apoio (não ler em voz alta): Relatório, seções 2.1 a 2.3, páginas 4 a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/>
              <a:t>FALA DA APRESENTAÇÃO</a:t>
            </a:r>
          </a:p>
          <a:p>
            <a:r>
              <a:rPr lang="pt-BR" sz="1200"/>
              <a:t>Tempo sugerido: 1:35. Tempo acumulado: 6:00 a 7:35.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Além dos registros do próprio projeto, integramos uma fonte externa chamada DummyJSON, destinada a testes e prototipagem. O endereço mostrado no código solicita uma lista de até doze produtos.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Podemos entender esse processo em etapas. Primeiro, o fetch faz a consulta ao serviço. Em seguida, a aplicação verifica se a resposta foi bem-sucedida. Depois, o método json converte o conteúdo recebido em dados que o JavaScript consegue utilizar. JSON é um formato de troca de dados organizado em campos e valores.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O passo seguinte é adaptar esses campos ao modelo do Vida Útil+. Por exemplo, title passa a ser nome, category passa a ser categoria, e thumbnail fornece a imagem. O map percorre os produtos e faz essa conversão.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Há uma limitação importante: essa API não fornece a vida útil dos produtos. Por isso, a aplicação indica que essa informação não está disponível e identifica o registro como vindo da API externa.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Também controlamos o carregamento e as falhas com try, catch e finally. Assim, o usuário recebe uma mensagem quando a consulta demora ou apresenta erro, sem interromper a interface principal.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Referência de apoio (não ler em voz alta): Relatório, seção 3, página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/>
              <a:t>FALA DA APRESENTAÇÃO</a:t>
            </a:r>
          </a:p>
          <a:p>
            <a:r>
              <a:rPr lang="pt-BR" sz="1200"/>
              <a:t>Tempo sugerido: 1:25. Tempo acumulado: 7:35 a 9:00.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Para organizar o código, dividimos a aplicação em componentes, páginas e dados. Componentes são partes da interface que podem ser reutilizadas. Por exemplo, ProductCard representa um produto, e ProductList utiliza esse componente para montar a lista. As páginas representam telas específicas, como cadastro, login e detalhes.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O App centraliza as informações principais que podem mudar durante o uso. Chamamos essas informações de estado. O useState mantém valores como a pesquisa digitada, a categoria escolhida, o usuário conectado e a tela atual. Quando um desses valores muda, o React atualiza a interface de acordo com o novo estado.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O useEffect participa de tarefas como recuperar a sessão salva e carregar os dados externos. Já as props permitem passar dados e funções entre os componentes.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A navegação segue o conceito de SPA, uma aplicação de página única. As telas mudam por meio do estado, sem carregar um novo documento HTML a cada ação. Neste projeto, usamos esse controle diretamente, sem um roteador externo. Essa organização manteve a estrutura adequada ao tamanho da atividade e facilitou a manutenção.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Referência de apoio (não ler em voz alta): Relatório, seções 4.1 a 4.3, páginas 8 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/>
              <a:t>FALA DA APRESENTAÇÃO</a:t>
            </a:r>
          </a:p>
          <a:p>
            <a:r>
              <a:rPr lang="pt-BR" sz="1200"/>
              <a:t>Tempo sugerido: 0:45. Tempo acumulado: 9:00 a 9:45.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Aqui vemos a aplicação em diferentes tamanhos de tela. A responsividade permite que a organização visual acompanhe o espaço disponível no dispositivo.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Nos testes em computador, tablet e celular, verificamos se menus e campos se reorganizavam e se os cartões de produtos continuavam adequados à tela. Também observamos a ausência de rolagem horizontal, para evitar que a pessoa precisasse deslocar a página para os lados para acessar o conteúdo.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O objetivo foi manter os principais fluxos utilizáveis nos três formatos. Essa verificação é importante porque o público pode acessar o catálogo tanto em uma tela grande quanto pelo celular. Além da aparência, também testamos o funcionamento dos recursos, como mostra o próximo slide.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Referência de apoio (não ler em voz alta): Relatório, seções 2.1 e 5.1, páginas 5 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/>
              <a:t>FALA DA APRESENTAÇÃO</a:t>
            </a:r>
          </a:p>
          <a:p>
            <a:r>
              <a:rPr lang="pt-BR" sz="1200"/>
              <a:t>Tempo sugerido: 1:05. Tempo acumulado: 9:45 a 10:50.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Antes da publicação, verificamos os principais fluxos da aplicação. Na parte de usuário, testamos cadastro, login, permanência da sessão após atualizar a página com F5 e logout. Nos produtos, conferimos cadastro, exibição, edição e consulta de detalhes.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Também testamos a busca por nome e categoria. Neste slide, pesquisa aparece como uma frente própria. No relatório, ela está dentro do grupo de produtos. Por isso, o relatório reúne cinco grupos, enquanto aqui os mesmos temas estão distribuídos em seis frentes.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Na API, verificamos a apresentação dos dados e o tratamento de erros. Na organização React e SPA, avaliamos os estados, a navegação e o console. A responsividade completou a validação, com os resultados registrados como aprovados no relatório.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Por último, executamos npm run build. Esse comando gerou com sucesso o pacote de produção, que reúne os arquivos preparados para publicação. Com essas verificações concluídas, passamos à disponibilização do projeto na internet.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Referência de apoio (não ler em voz alta): Relatório, seção 5.1, página 10. No relatório, pesquisa está incluída no grupo Produtos; o slide a apresenta separadamente.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/>
              <a:t>FALA DA APRESENTAÇÃO</a:t>
            </a:r>
          </a:p>
          <a:p>
            <a:r>
              <a:rPr lang="pt-BR" sz="1200"/>
              <a:t>Tempo sugerido: 0:40. Tempo acumulado: 10:50 a 11:30.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A publicação envolveu dois destinos com funções diferentes. No GitHub, disponibilizamos o código-fonte e a estrutura do projeto, permitindo consultar os componentes, as páginas, os estilos e as configurações.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Na Vercel, disponibilizamos a aplicação para uso pelo navegador. O repositório foi conectado à hospedagem, completando o caminho entre o desenvolvimento local e o acesso público.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Os endereços estão neste slide para quem quiser conhecer o código ou experimentar o sistema. Essa etapa encerrou a entrega técnica: a aplicação passou a ter uma versão publicada, além dos arquivos de desenvolvimento. Para concluir, vamos retomar os resultados e o que ainda pode evoluir.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Referência de apoio (não ler em voz alta): Relatório, seção 5.2, páginas 10 e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/>
              <a:t>FALA DA APRESENTAÇÃO</a:t>
            </a:r>
          </a:p>
          <a:p>
            <a:r>
              <a:rPr lang="pt-BR" sz="1200"/>
              <a:t>Tempo sugerido: 1:05. Tempo acumulado: 11:30 a 12:35.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Com o Vida Útil+, transformamos uma proposta inicialmente estática em uma aplicação interativa e publicada. O catálogo ganhou busca, filtros e detalhes, além dos fluxos de cadastro, login e edição de produtos. Também organizamos o código com React e integramos dados externos.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Entre os aprendizados, destacamos a divisão da interface em componentes e o controle dos estados. A migração para o React, a coordenação da navegação com a sessão e o tratamento dos dados da API foram desafios que exigiram ajustes e testes.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A principal evolução futura é acrescentar um backend, que é a parte executada no servidor, com um banco de dados. Isso permitiria centralizar contas e produtos e compartilhar os registros entre dispositivos. Outra possibilidade é ampliar as fontes e melhorar as informações sobre durabilidade e conservação.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O projeto aproxima o desenvolvimento web de uma questão cotidiana: como utilizar melhor aquilo que consumimos. A contribuição proposta é tornar essas informações mais acessíveis e apoiar escolhas conscientes. Agradecemos a atenção e ficamos à disposição para perguntas.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Referência de apoio (não ler em voz alta): Relatório, seção 6, página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/>
              <a:t>FALA DA APRESENTAÇÃO</a:t>
            </a:r>
          </a:p>
          <a:p>
            <a:r>
              <a:rPr lang="pt-BR" sz="1200"/>
              <a:t>Tempo sugerido: 1:05. Tempo acumulado: 3:35 a 4:40.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Cada tecnologia teve uma função no projeto. O React organiza a interface em componentes, que são partes reutilizáveis da tela. O Vite oferece o ambiente de desenvolvimento e prepara os arquivos da versão de produção.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O JavaScript cuida da lógica das interações, como validar formulários, responder a cliques e consultar a API. O CSS define a aparência e a adaptação do layout ao computador, ao tablet e ao celular.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O localStorage mantém os registros localmente. A DummyJSON fornece dados externos de produtos para demonstrarmos a integração com uma API, ou seja, uma forma de a aplicação solicitar informações a outro serviço.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Por fim, o Git registra as versões do código, e o GitHub disponibiliza o repositório. A Vercel hospeda a aplicação para acesso pela internet. Assim, as ferramentas cobrem desde a construção da interface até sua publicação. Vamos agora acompanhar o percurso de quem utiliza o sistema.</a:t>
            </a:r>
          </a:p>
          <a:p>
            <a:r>
              <a:rPr lang="pt-BR" sz="1200"/>
              <a:t/>
            </a:r>
          </a:p>
          <a:p>
            <a:r>
              <a:rPr lang="pt-BR" sz="1200"/>
              <a:t>Referência de apoio (não ler em voz alta): Relatório, seções 1, 2.3, 3, 4 e 5.2, páginas 4, 6 a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LIGHT">
    <p:bg>
      <p:bgPr>
        <a:solidFill>
          <a:srgbClr val="EA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9E63"/>
          </a:solidFill>
          <a:ln w="12700">
            <a:solidFill>
              <a:srgbClr val="2E9E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65562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587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VIDA ÚTIL+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87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87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endersonnCosta/vida-util-plu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hyperlink" Target="https://vida-util-mais-plus.vercel.app/" TargetMode="Externa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6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-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210" dirty="0">
                <a:solidFill>
                  <a:srgbClr val="2E9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CONTEXTO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8638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53F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ODS 12, público-alvo e objetivo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3990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 combina informação, consulta e participação do usuário.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1737360" cy="0"/>
          </a:xfrm>
          <a:prstGeom prst="line">
            <a:avLst/>
          </a:prstGeom>
          <a:noFill/>
          <a:ln w="12700">
            <a:solidFill>
              <a:srgbClr val="2E9E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139696"/>
            <a:ext cx="3172968" cy="3456432"/>
          </a:xfrm>
          <a:prstGeom prst="roundRect">
            <a:avLst>
              <a:gd name="adj" fmla="val 2017"/>
            </a:avLst>
          </a:prstGeom>
          <a:solidFill>
            <a:srgbClr val="1F6D45"/>
          </a:solidFill>
          <a:ln w="12700">
            <a:solidFill>
              <a:srgbClr val="1F6D45"/>
            </a:solidFill>
            <a:prstDash val="solid"/>
          </a:ln>
          <a:effectLst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96112" y="234086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9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6974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ODS 12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36499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DD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 e Produção Responsáveis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995928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E7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Informar para apoiar escolhas de consumo mais conscientes e reduzir o descarte prematuro.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33672" y="2139696"/>
            <a:ext cx="3172968" cy="3456432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 w="12700">
            <a:solidFill>
              <a:srgbClr val="C9D9D0"/>
            </a:solidFill>
            <a:prstDash val="solid"/>
          </a:ln>
          <a:effectLst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471416" y="234086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9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471416" y="26974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3F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Público-alvo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471416" y="336499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F6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Consumidores em geral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471416" y="3995928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Pessoas que desejam conhecer melhor a durabilidade de bens de uso cotidiano.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808976" y="2139696"/>
            <a:ext cx="3721608" cy="3456432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C9D9D0"/>
            </a:solidFill>
            <a:prstDash val="solid"/>
          </a:ln>
          <a:effectLst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046720" y="234086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9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26974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3F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 da aplicação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336499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F6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+ interação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399592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produtos, pesquisar e filtrar categorias, visualizar detalhes e cadastrar produtos.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84301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2E9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de projeto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2148840" y="577900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0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Manter a proposta simples: informação útil primeiro, interação sem excesso de complexidade.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87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210" dirty="0">
                <a:solidFill>
                  <a:srgbClr val="2E9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DESENVOLVIMENTO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8638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53F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interface estática à aplicação interativa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3990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melhorias e decisões técnicas da etapa de finalização.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1737360" cy="0"/>
          </a:xfrm>
          <a:prstGeom prst="line">
            <a:avLst/>
          </a:prstGeom>
          <a:noFill/>
          <a:ln w="12700">
            <a:solidFill>
              <a:srgbClr val="2E9E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2139696"/>
            <a:ext cx="5166360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C9D9D0"/>
            </a:solidFill>
            <a:prstDash val="solid"/>
          </a:ln>
          <a:effectLst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86968" y="2423160"/>
            <a:ext cx="438912" cy="438912"/>
          </a:xfrm>
          <a:prstGeom prst="ellipse">
            <a:avLst/>
          </a:prstGeom>
          <a:solidFill>
            <a:srgbClr val="1F6D45"/>
          </a:solidFill>
          <a:ln w="12700">
            <a:solidFill>
              <a:srgbClr val="1F6D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86968" y="249631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2331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3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2688336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Cabeçalho, hero, catálogo, cadastro e rodapé organizados em seções.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54496" y="2139696"/>
            <a:ext cx="5166360" cy="1353312"/>
          </a:xfrm>
          <a:prstGeom prst="roundRect">
            <a:avLst>
              <a:gd name="adj" fmla="val 4730"/>
            </a:avLst>
          </a:prstGeom>
          <a:solidFill>
            <a:srgbClr val="F7FAF8"/>
          </a:solidFill>
          <a:ln w="12700">
            <a:solidFill>
              <a:srgbClr val="C9D9D0"/>
            </a:solidFill>
            <a:prstDash val="solid"/>
          </a:ln>
          <a:effectLst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64808" y="2423160"/>
            <a:ext cx="438912" cy="438912"/>
          </a:xfrm>
          <a:prstGeom prst="ellipse">
            <a:avLst/>
          </a:prstGeom>
          <a:solidFill>
            <a:srgbClr val="1F6D45"/>
          </a:solidFill>
          <a:ln w="12700">
            <a:solidFill>
              <a:srgbClr val="1F6D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808" y="249631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059168" y="2331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3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Interatividade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059168" y="2688336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Busca, filtros, navegação, login, logout, detalhes, cadastro e edição.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6656" y="3895344"/>
            <a:ext cx="5166360" cy="1353312"/>
          </a:xfrm>
          <a:prstGeom prst="roundRect">
            <a:avLst>
              <a:gd name="adj" fmla="val 4730"/>
            </a:avLst>
          </a:prstGeom>
          <a:solidFill>
            <a:srgbClr val="F7FAF8"/>
          </a:solidFill>
          <a:ln w="12700">
            <a:solidFill>
              <a:srgbClr val="C9D9D0"/>
            </a:solidFill>
            <a:prstDash val="solid"/>
          </a:ln>
          <a:effectLst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86968" y="4178808"/>
            <a:ext cx="438912" cy="438912"/>
          </a:xfrm>
          <a:prstGeom prst="ellipse">
            <a:avLst/>
          </a:prstGeom>
          <a:solidFill>
            <a:srgbClr val="1F6D45"/>
          </a:solidFill>
          <a:ln w="12700">
            <a:solidFill>
              <a:srgbClr val="1F6D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6968" y="42519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40873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3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Persistência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4443984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para usuários, sessão e produtos cadastrados no protótipo.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54496" y="3895344"/>
            <a:ext cx="5166360" cy="1353312"/>
          </a:xfrm>
          <a:prstGeom prst="roundRect">
            <a:avLst>
              <a:gd name="adj" fmla="val 4730"/>
            </a:avLst>
          </a:prstGeom>
          <a:solidFill>
            <a:srgbClr val="F7FAF8"/>
          </a:solidFill>
          <a:ln w="12700">
            <a:solidFill>
              <a:srgbClr val="C9D9D0"/>
            </a:solidFill>
            <a:prstDash val="solid"/>
          </a:ln>
          <a:effectLst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64808" y="4178808"/>
            <a:ext cx="438912" cy="438912"/>
          </a:xfrm>
          <a:prstGeom prst="ellipse">
            <a:avLst/>
          </a:prstGeom>
          <a:solidFill>
            <a:srgbClr val="1F6D45"/>
          </a:solidFill>
          <a:ln w="12700">
            <a:solidFill>
              <a:srgbClr val="1F6D4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64808" y="42519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059168" y="40873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3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Responsividade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4443984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adaptado para desktop, tablet e mobile, sem overflow horizontal.</a:t>
            </a:r>
            <a:endParaRPr lang="en-US" sz="14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87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CB1FB99-A3B4-CDD6-5491-6ED6E379C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608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210" dirty="0">
                <a:solidFill>
                  <a:srgbClr val="2E9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FUNCIONAMENTO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8638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53F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Páginas, navegação e principais funcionalidades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3990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da aplicação demonstrado durante os testes.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1737360" cy="0"/>
          </a:xfrm>
          <a:prstGeom prst="line">
            <a:avLst/>
          </a:prstGeom>
          <a:noFill/>
          <a:ln w="12700">
            <a:solidFill>
              <a:srgbClr val="2E9E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2084832"/>
            <a:ext cx="1572768" cy="1005840"/>
          </a:xfrm>
          <a:prstGeom prst="roundRect">
            <a:avLst>
              <a:gd name="adj" fmla="val 6364"/>
            </a:avLst>
          </a:prstGeom>
          <a:solidFill>
            <a:srgbClr val="1F6D45"/>
          </a:solidFill>
          <a:ln w="12700">
            <a:solidFill>
              <a:srgbClr val="C9D9D0"/>
            </a:solidFill>
            <a:prstDash val="solid"/>
          </a:ln>
          <a:effectLst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58952" y="221284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E9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4048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2670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D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+ catálogo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95144" y="2404872"/>
            <a:ext cx="182880" cy="256032"/>
          </a:xfrm>
          <a:prstGeom prst="chevron">
            <a:avLst/>
          </a:prstGeom>
          <a:solidFill>
            <a:srgbClr val="2E9E63"/>
          </a:solidFill>
          <a:ln w="12700">
            <a:solidFill>
              <a:srgbClr val="2E9E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2084832"/>
            <a:ext cx="1572768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C9D9D0"/>
            </a:solidFill>
            <a:prstDash val="solid"/>
          </a:ln>
          <a:effectLst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606040" y="221284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E9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2606040" y="24048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3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2670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 + categoria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42232" y="2404872"/>
            <a:ext cx="182880" cy="256032"/>
          </a:xfrm>
          <a:prstGeom prst="chevron">
            <a:avLst/>
          </a:prstGeom>
          <a:solidFill>
            <a:srgbClr val="2E9E63"/>
          </a:solidFill>
          <a:ln w="12700">
            <a:solidFill>
              <a:srgbClr val="2E9E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61688" y="2084832"/>
            <a:ext cx="1572768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C9D9D0"/>
            </a:solidFill>
            <a:prstDash val="solid"/>
          </a:ln>
          <a:effectLst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453128" y="221284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E9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453128" y="24048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3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453128" y="2670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 usuário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89320" y="2404872"/>
            <a:ext cx="182880" cy="256032"/>
          </a:xfrm>
          <a:prstGeom prst="chevron">
            <a:avLst/>
          </a:prstGeom>
          <a:solidFill>
            <a:srgbClr val="2E9E63"/>
          </a:solidFill>
          <a:ln w="12700">
            <a:solidFill>
              <a:srgbClr val="2E9E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08776" y="2084832"/>
            <a:ext cx="1572768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C9D9D0"/>
            </a:solidFill>
            <a:prstDash val="solid"/>
          </a:ln>
          <a:effectLst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300216" y="221284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E9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300216" y="24048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3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00216" y="2670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Sessão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836408" y="2404872"/>
            <a:ext cx="182880" cy="256032"/>
          </a:xfrm>
          <a:prstGeom prst="chevron">
            <a:avLst/>
          </a:prstGeom>
          <a:solidFill>
            <a:srgbClr val="2E9E63"/>
          </a:solidFill>
          <a:ln w="12700">
            <a:solidFill>
              <a:srgbClr val="2E9E6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55864" y="2084832"/>
            <a:ext cx="1572768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C9D9D0"/>
            </a:solidFill>
            <a:prstDash val="solid"/>
          </a:ln>
          <a:effectLst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147304" y="221284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E9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8147304" y="24048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3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147304" y="2670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Meus produtos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83496" y="2404872"/>
            <a:ext cx="182880" cy="256032"/>
          </a:xfrm>
          <a:prstGeom prst="chevron">
            <a:avLst/>
          </a:prstGeom>
          <a:solidFill>
            <a:srgbClr val="2E9E63"/>
          </a:solidFill>
          <a:ln w="12700">
            <a:solidFill>
              <a:srgbClr val="2E9E6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02952" y="2084832"/>
            <a:ext cx="1572768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C9D9D0"/>
            </a:solidFill>
            <a:prstDash val="solid"/>
          </a:ln>
          <a:effectLst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994392" y="221284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E9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9994392" y="24048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3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Detalhes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994392" y="2670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Vida útil + orientações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94944" y="3566160"/>
            <a:ext cx="2971800" cy="2148840"/>
          </a:xfrm>
          <a:prstGeom prst="roundRect">
            <a:avLst>
              <a:gd name="adj" fmla="val 2979"/>
            </a:avLst>
          </a:prstGeom>
          <a:solidFill>
            <a:srgbClr val="F3F7F5"/>
          </a:solidFill>
          <a:ln w="12700">
            <a:solidFill>
              <a:srgbClr val="BFD1C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4944" y="3566160"/>
            <a:ext cx="2971800" cy="274320"/>
          </a:xfrm>
          <a:prstGeom prst="rect">
            <a:avLst/>
          </a:prstGeom>
          <a:solidFill>
            <a:srgbClr val="DCE9E2"/>
          </a:solidFill>
          <a:ln w="12700">
            <a:solidFill>
              <a:srgbClr val="DCE9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" y="3666744"/>
            <a:ext cx="73152" cy="73152"/>
          </a:xfrm>
          <a:prstGeom prst="ellipse">
            <a:avLst/>
          </a:prstGeom>
          <a:solidFill>
            <a:srgbClr val="2E9E63"/>
          </a:solidFill>
          <a:ln w="12700">
            <a:solidFill>
              <a:srgbClr val="2E9E6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0976" y="3666744"/>
            <a:ext cx="73152" cy="73152"/>
          </a:xfrm>
          <a:prstGeom prst="ellipse">
            <a:avLst/>
          </a:prstGeom>
          <a:solidFill>
            <a:srgbClr val="A5B8AE"/>
          </a:solidFill>
          <a:ln w="12700">
            <a:solidFill>
              <a:srgbClr val="A5B8A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97280" y="3666744"/>
            <a:ext cx="73152" cy="73152"/>
          </a:xfrm>
          <a:prstGeom prst="ellipse">
            <a:avLst/>
          </a:prstGeom>
          <a:solidFill>
            <a:srgbClr val="A5B8AE"/>
          </a:solidFill>
          <a:ln w="12700">
            <a:solidFill>
              <a:srgbClr val="A5B8A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0" y="3566160"/>
            <a:ext cx="2971800" cy="2148840"/>
          </a:xfrm>
          <a:prstGeom prst="roundRect">
            <a:avLst>
              <a:gd name="adj" fmla="val 2979"/>
            </a:avLst>
          </a:prstGeom>
          <a:solidFill>
            <a:srgbClr val="F3F7F5"/>
          </a:solidFill>
          <a:ln w="12700">
            <a:solidFill>
              <a:srgbClr val="BFD1C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0" y="3566160"/>
            <a:ext cx="2971800" cy="274320"/>
          </a:xfrm>
          <a:prstGeom prst="rect">
            <a:avLst/>
          </a:prstGeom>
          <a:solidFill>
            <a:srgbClr val="DCE9E2"/>
          </a:solidFill>
          <a:ln w="12700">
            <a:solidFill>
              <a:srgbClr val="DCE9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24528" y="3666744"/>
            <a:ext cx="73152" cy="73152"/>
          </a:xfrm>
          <a:prstGeom prst="ellipse">
            <a:avLst/>
          </a:prstGeom>
          <a:solidFill>
            <a:srgbClr val="2E9E63"/>
          </a:solidFill>
          <a:ln w="12700">
            <a:solidFill>
              <a:srgbClr val="2E9E6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70832" y="3666744"/>
            <a:ext cx="73152" cy="73152"/>
          </a:xfrm>
          <a:prstGeom prst="ellipse">
            <a:avLst/>
          </a:prstGeom>
          <a:solidFill>
            <a:srgbClr val="A5B8AE"/>
          </a:solidFill>
          <a:ln w="12700">
            <a:solidFill>
              <a:srgbClr val="A5B8A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17136" y="3666744"/>
            <a:ext cx="73152" cy="73152"/>
          </a:xfrm>
          <a:prstGeom prst="ellipse">
            <a:avLst/>
          </a:prstGeom>
          <a:solidFill>
            <a:srgbClr val="A5B8AE"/>
          </a:solidFill>
          <a:ln w="12700">
            <a:solidFill>
              <a:srgbClr val="A5B8A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34656" y="3566160"/>
            <a:ext cx="2971800" cy="2148840"/>
          </a:xfrm>
          <a:prstGeom prst="roundRect">
            <a:avLst>
              <a:gd name="adj" fmla="val 2979"/>
            </a:avLst>
          </a:prstGeom>
          <a:solidFill>
            <a:srgbClr val="F3F7F5"/>
          </a:solidFill>
          <a:ln w="12700">
            <a:solidFill>
              <a:srgbClr val="BFD1C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34656" y="3566160"/>
            <a:ext cx="2971800" cy="274320"/>
          </a:xfrm>
          <a:prstGeom prst="rect">
            <a:avLst/>
          </a:prstGeom>
          <a:solidFill>
            <a:srgbClr val="DCE9E2"/>
          </a:solidFill>
          <a:ln w="12700">
            <a:solidFill>
              <a:srgbClr val="DCE9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644384" y="3666744"/>
            <a:ext cx="73152" cy="73152"/>
          </a:xfrm>
          <a:prstGeom prst="ellipse">
            <a:avLst/>
          </a:prstGeom>
          <a:solidFill>
            <a:srgbClr val="2E9E63"/>
          </a:solidFill>
          <a:ln w="12700">
            <a:solidFill>
              <a:srgbClr val="2E9E6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90688" y="3666744"/>
            <a:ext cx="73152" cy="73152"/>
          </a:xfrm>
          <a:prstGeom prst="ellipse">
            <a:avLst/>
          </a:prstGeom>
          <a:solidFill>
            <a:srgbClr val="A5B8AE"/>
          </a:solidFill>
          <a:ln w="12700">
            <a:solidFill>
              <a:srgbClr val="A5B8A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936992" y="3666744"/>
            <a:ext cx="73152" cy="73152"/>
          </a:xfrm>
          <a:prstGeom prst="ellipse">
            <a:avLst/>
          </a:prstGeom>
          <a:solidFill>
            <a:srgbClr val="A5B8AE"/>
          </a:solidFill>
          <a:ln w="12700">
            <a:solidFill>
              <a:srgbClr val="A5B8AE"/>
            </a:solidFill>
            <a:prstDash val="solid"/>
          </a:ln>
        </p:spPr>
      </p:sp>
      <p:sp>
        <p:nvSpPr>
          <p:cNvPr id="5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87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59" name="Imagem 58">
            <a:extLst>
              <a:ext uri="{FF2B5EF4-FFF2-40B4-BE49-F238E27FC236}">
                <a16:creationId xmlns:a16="http://schemas.microsoft.com/office/drawing/2014/main" id="{F4D5DB59-D561-2C26-4DFC-B569E1659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90" y="3849624"/>
            <a:ext cx="2962654" cy="1865375"/>
          </a:xfrm>
          <a:prstGeom prst="rect">
            <a:avLst/>
          </a:prstGeom>
        </p:spPr>
      </p:pic>
      <p:pic>
        <p:nvPicPr>
          <p:cNvPr id="61" name="Imagem 60">
            <a:extLst>
              <a:ext uri="{FF2B5EF4-FFF2-40B4-BE49-F238E27FC236}">
                <a16:creationId xmlns:a16="http://schemas.microsoft.com/office/drawing/2014/main" id="{3FECCC4A-795D-02DF-937B-381064FBC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136" y="3849624"/>
            <a:ext cx="2233613" cy="1861267"/>
          </a:xfrm>
          <a:prstGeom prst="rect">
            <a:avLst/>
          </a:prstGeom>
        </p:spPr>
      </p:pic>
      <p:pic>
        <p:nvPicPr>
          <p:cNvPr id="63" name="Imagem 62">
            <a:extLst>
              <a:ext uri="{FF2B5EF4-FFF2-40B4-BE49-F238E27FC236}">
                <a16:creationId xmlns:a16="http://schemas.microsoft.com/office/drawing/2014/main" id="{303EAE06-6C56-2847-7404-ED8E28496CC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215" r="7378"/>
          <a:stretch>
            <a:fillRect/>
          </a:stretch>
        </p:blipFill>
        <p:spPr>
          <a:xfrm>
            <a:off x="7547907" y="3840480"/>
            <a:ext cx="2971801" cy="18704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210" dirty="0">
                <a:solidFill>
                  <a:srgbClr val="2E9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DADOS EXTERNOS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8638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53F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Consumo da API: Fetch + JSON + tratamento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3990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com DummyJSON para demonstrar consumo de dados externos.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1737360" cy="0"/>
          </a:xfrm>
          <a:prstGeom prst="line">
            <a:avLst/>
          </a:prstGeom>
          <a:noFill/>
          <a:ln w="12700">
            <a:solidFill>
              <a:srgbClr val="2E9E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2139696"/>
            <a:ext cx="5532120" cy="3602736"/>
          </a:xfrm>
          <a:prstGeom prst="roundRect">
            <a:avLst>
              <a:gd name="adj" fmla="val 1777"/>
            </a:avLst>
          </a:prstGeom>
          <a:solidFill>
            <a:srgbClr val="153F29"/>
          </a:solidFill>
          <a:ln w="12700">
            <a:solidFill>
              <a:srgbClr val="153F2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1832" y="23957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7FD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fetch()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2770632"/>
            <a:ext cx="498348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E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resposta = await fetch(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E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'https://dummyjson.com/products?limit=12'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E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E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dados = await resposta.json()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E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produtos = dados.products.map((produto) =&gt; ({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E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nome: produto.title,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E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categoria: produto.category,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E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descricao: produto.description,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E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preco: produto.price,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E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avaliacao: produto.rating,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E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imagem: produto.thumbnail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E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46520" y="2139696"/>
            <a:ext cx="5074920" cy="3602736"/>
          </a:xfrm>
          <a:prstGeom prst="roundRect">
            <a:avLst>
              <a:gd name="adj" fmla="val 1777"/>
            </a:avLst>
          </a:prstGeom>
          <a:solidFill>
            <a:srgbClr val="FFFFFF"/>
          </a:solidFill>
          <a:ln w="12700">
            <a:solidFill>
              <a:srgbClr val="C9D9D0"/>
            </a:solidFill>
            <a:prstDash val="solid"/>
          </a:ln>
          <a:effectLst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739128" y="2377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3F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o dado é tratado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39128" y="2862072"/>
            <a:ext cx="274320" cy="274320"/>
          </a:xfrm>
          <a:prstGeom prst="ellipse">
            <a:avLst/>
          </a:prstGeom>
          <a:solidFill>
            <a:srgbClr val="1F6D45"/>
          </a:solidFill>
          <a:ln w="12700">
            <a:solidFill>
              <a:srgbClr val="1F6D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39128" y="2912364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150608" y="283464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6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Requisição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156448" y="283464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fetch() consulta o endpoint de produtos.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39128" y="3419856"/>
            <a:ext cx="274320" cy="274320"/>
          </a:xfrm>
          <a:prstGeom prst="ellipse">
            <a:avLst/>
          </a:prstGeom>
          <a:solidFill>
            <a:srgbClr val="1F6D45"/>
          </a:solidFill>
          <a:ln w="12700">
            <a:solidFill>
              <a:srgbClr val="1F6D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39128" y="347014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150608" y="339242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6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156448" y="336499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resposta.ok evita seguir com resposta inválida.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39128" y="3977640"/>
            <a:ext cx="274320" cy="274320"/>
          </a:xfrm>
          <a:prstGeom prst="ellipse">
            <a:avLst/>
          </a:prstGeom>
          <a:solidFill>
            <a:srgbClr val="1F6D45"/>
          </a:solidFill>
          <a:ln w="12700">
            <a:solidFill>
              <a:srgbClr val="1F6D4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39128" y="402793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150608" y="395020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6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156448" y="395020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response.json() transforma o retorno em objeto JS.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39128" y="4535424"/>
            <a:ext cx="274320" cy="274320"/>
          </a:xfrm>
          <a:prstGeom prst="ellipse">
            <a:avLst/>
          </a:prstGeom>
          <a:solidFill>
            <a:srgbClr val="1F6D45"/>
          </a:solidFill>
          <a:ln w="12700">
            <a:solidFill>
              <a:srgbClr val="1F6D4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39128" y="458571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50608" y="450799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6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47888" y="449884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map() adapta os campos ao modelo do Vida Útil+.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39128" y="5093208"/>
            <a:ext cx="274320" cy="274320"/>
          </a:xfrm>
          <a:prstGeom prst="ellipse">
            <a:avLst/>
          </a:prstGeom>
          <a:solidFill>
            <a:srgbClr val="1F6D45"/>
          </a:solidFill>
          <a:ln w="12700">
            <a:solidFill>
              <a:srgbClr val="1F6D4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39128" y="514350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50608" y="506577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6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156448" y="5078101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try/catch/finally controla falhas e carregamento.</a:t>
            </a:r>
            <a:endParaRPr lang="en-US" sz="12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87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210" dirty="0">
                <a:solidFill>
                  <a:srgbClr val="2E9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ORGANIZAÇÃO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8638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53F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React: componentes, estado e arquitetura SPA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3990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estrutura foi dividida por responsabilidade para facilitar manutenção e reutilização.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1737360" cy="0"/>
          </a:xfrm>
          <a:prstGeom prst="line">
            <a:avLst/>
          </a:prstGeom>
          <a:noFill/>
          <a:ln w="12700">
            <a:solidFill>
              <a:srgbClr val="2E9E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277977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7F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</a:t>
            </a:r>
            <a:endParaRPr lang="en-US" sz="86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2990088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E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Header.jsx</a:t>
            </a:r>
            <a:endParaRPr lang="en-US" sz="86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320040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E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Hero.jsx</a:t>
            </a:r>
            <a:endParaRPr lang="en-US" sz="86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341071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E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SearchBox.jsx</a:t>
            </a:r>
            <a:endParaRPr lang="en-US" sz="86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3621024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E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ProductCard.jsx</a:t>
            </a:r>
            <a:endParaRPr lang="en-US" sz="86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383133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E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ProductList.jsx</a:t>
            </a:r>
            <a:endParaRPr lang="en-US" sz="86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4041648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7F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pages/</a:t>
            </a:r>
            <a:endParaRPr lang="en-US" sz="86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425196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E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Cadastro.jsx</a:t>
            </a:r>
            <a:endParaRPr lang="en-US" sz="86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446227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E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Login.jsx</a:t>
            </a:r>
            <a:endParaRPr lang="en-US" sz="860" dirty="0"/>
          </a:p>
        </p:txBody>
      </p:sp>
      <p:sp>
        <p:nvSpPr>
          <p:cNvPr id="17" name="Text 15"/>
          <p:cNvSpPr txBox="1"/>
          <p:nvPr/>
        </p:nvSpPr>
        <p:spPr>
          <a:xfrm>
            <a:off x="932688" y="4672584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E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Sistema.jsx</a:t>
            </a:r>
            <a:endParaRPr lang="en-US" sz="86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488289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E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CadastroProduto.jsx</a:t>
            </a:r>
            <a:endParaRPr lang="en-US" sz="860" dirty="0"/>
          </a:p>
        </p:txBody>
      </p:sp>
      <p:sp>
        <p:nvSpPr>
          <p:cNvPr id="19" name="Text 17"/>
          <p:cNvSpPr txBox="1"/>
          <p:nvPr/>
        </p:nvSpPr>
        <p:spPr>
          <a:xfrm>
            <a:off x="932688" y="5093208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E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data/produtos.js</a:t>
            </a:r>
            <a:endParaRPr lang="en-US" sz="860" dirty="0"/>
          </a:p>
        </p:txBody>
      </p:sp>
      <p:sp>
        <p:nvSpPr>
          <p:cNvPr id="20" name="Text 18"/>
          <p:cNvSpPr txBox="1"/>
          <p:nvPr/>
        </p:nvSpPr>
        <p:spPr>
          <a:xfrm>
            <a:off x="932688" y="530352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E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App.jsx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3886200" y="2194560"/>
            <a:ext cx="3465576" cy="121615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9D9D0"/>
            </a:solidFill>
            <a:prstDash val="solid"/>
          </a:ln>
          <a:effectLst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105656" y="236829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3F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useState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105656" y="2706624"/>
            <a:ext cx="2962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 · usuário · pesquisa · categoria · API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08392" y="2194560"/>
            <a:ext cx="3465576" cy="121615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9D9D0"/>
            </a:solidFill>
            <a:prstDash val="solid"/>
          </a:ln>
          <a:effectLst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927848" y="236829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3F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useEffect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927848" y="2706624"/>
            <a:ext cx="2962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sessão salva · carregamento da API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86200" y="3675888"/>
            <a:ext cx="3465576" cy="121615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9D9D0"/>
            </a:solidFill>
            <a:prstDash val="solid"/>
          </a:ln>
          <a:effectLst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4105656" y="384962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3F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105656" y="4187952"/>
            <a:ext cx="2962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e funções compartilhados entre componentes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08392" y="3675888"/>
            <a:ext cx="3465576" cy="121615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9D9D0"/>
            </a:solidFill>
            <a:prstDash val="solid"/>
          </a:ln>
          <a:effectLst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927848" y="384962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3F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927848" y="4187952"/>
            <a:ext cx="2962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 de telas por estado, sem recarregar o documento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886200" y="5266944"/>
            <a:ext cx="7315200" cy="585216"/>
          </a:xfrm>
          <a:prstGeom prst="roundRect">
            <a:avLst>
              <a:gd name="adj" fmla="val 10938"/>
            </a:avLst>
          </a:prstGeom>
          <a:solidFill>
            <a:srgbClr val="F7FAF8"/>
          </a:solidFill>
          <a:ln w="12700">
            <a:solidFill>
              <a:srgbClr val="BFD1C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114800" y="5413248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0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Decisão: manter navegação simples por estado, adequada ao escopo da atividade, sem adicionar dependências desnecessárias.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87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DB33A506-ACD3-8A5A-F9EF-96AD9E573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" y="2058494"/>
            <a:ext cx="3044952" cy="43320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210" dirty="0">
                <a:solidFill>
                  <a:srgbClr val="2E9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RESPONSIVIDADE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8638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53F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mesma aplicação em diferentes tamanhos de tela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3990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visual em desktop, tablet e mobile.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1737360" cy="0"/>
          </a:xfrm>
          <a:prstGeom prst="line">
            <a:avLst/>
          </a:prstGeom>
          <a:noFill/>
          <a:ln w="12700">
            <a:solidFill>
              <a:srgbClr val="2E9E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340864"/>
            <a:ext cx="5897880" cy="315468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2700">
            <a:solidFill>
              <a:srgbClr val="C9D9D0"/>
            </a:solidFill>
            <a:prstDash val="solid"/>
          </a:ln>
          <a:effectLst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880360" y="521208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kern="0" spc="130" dirty="0">
                <a:solidFill>
                  <a:srgbClr val="1F6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333488" y="2450592"/>
            <a:ext cx="2331720" cy="2487168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C9D9D0"/>
            </a:solidFill>
            <a:prstDash val="solid"/>
          </a:ln>
          <a:effectLst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626096" y="51663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kern="0" spc="120" dirty="0">
                <a:solidFill>
                  <a:srgbClr val="1F6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9948672" y="2267712"/>
            <a:ext cx="1481328" cy="2907792"/>
          </a:xfrm>
          <a:prstGeom prst="roundRect">
            <a:avLst>
              <a:gd name="adj" fmla="val 4321"/>
            </a:avLst>
          </a:prstGeom>
          <a:solidFill>
            <a:srgbClr val="153F29"/>
          </a:solidFill>
          <a:ln w="12700">
            <a:solidFill>
              <a:srgbClr val="153F2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222992" y="31821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53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Encontre</a:t>
            </a:r>
            <a:endParaRPr lang="en-US" sz="840" dirty="0"/>
          </a:p>
        </p:txBody>
      </p:sp>
      <p:sp>
        <p:nvSpPr>
          <p:cNvPr id="34" name="Text 32"/>
          <p:cNvSpPr txBox="1"/>
          <p:nvPr/>
        </p:nvSpPr>
        <p:spPr>
          <a:xfrm>
            <a:off x="10085832" y="53492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kern="0" spc="120" dirty="0">
                <a:solidFill>
                  <a:srgbClr val="2E9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749808" y="5696712"/>
            <a:ext cx="10680192" cy="493776"/>
          </a:xfrm>
          <a:prstGeom prst="roundRect">
            <a:avLst>
              <a:gd name="adj" fmla="val 12963"/>
            </a:avLst>
          </a:prstGeom>
          <a:solidFill>
            <a:srgbClr val="F7FAF8"/>
          </a:solidFill>
          <a:ln w="12700">
            <a:solidFill>
              <a:srgbClr val="BFD1C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87552" y="5843016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 verificado: menus e campos se reorganizam, cards se adaptam e não há overflow horizontal.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87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01F6BB27-7ADC-4D7B-C675-09498C0A75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83" t="6091" r="14484" b="6243"/>
          <a:stretch>
            <a:fillRect/>
          </a:stretch>
        </p:blipFill>
        <p:spPr>
          <a:xfrm>
            <a:off x="9801455" y="2214704"/>
            <a:ext cx="1737360" cy="2980944"/>
          </a:xfrm>
          <a:prstGeom prst="rect">
            <a:avLst/>
          </a:prstGeom>
        </p:spPr>
      </p:pic>
      <p:pic>
        <p:nvPicPr>
          <p:cNvPr id="41" name="Imagem 40">
            <a:extLst>
              <a:ext uri="{FF2B5EF4-FFF2-40B4-BE49-F238E27FC236}">
                <a16:creationId xmlns:a16="http://schemas.microsoft.com/office/drawing/2014/main" id="{67E7AE1A-4D9E-0907-C0D5-0572F62593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037" y="2343252"/>
            <a:ext cx="5874017" cy="2807208"/>
          </a:xfrm>
          <a:prstGeom prst="rect">
            <a:avLst/>
          </a:prstGeom>
        </p:spPr>
      </p:pic>
      <p:pic>
        <p:nvPicPr>
          <p:cNvPr id="43" name="Imagem 42">
            <a:extLst>
              <a:ext uri="{FF2B5EF4-FFF2-40B4-BE49-F238E27FC236}">
                <a16:creationId xmlns:a16="http://schemas.microsoft.com/office/drawing/2014/main" id="{BC441B09-C4C2-7708-12FF-524A3C722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8430" y="2450592"/>
            <a:ext cx="2296778" cy="25694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210" dirty="0">
                <a:solidFill>
                  <a:srgbClr val="2E9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VALIDAÇÃO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8638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53F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Testes realizados e correções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3990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frentes de teste foram utilizadas antes da publicação.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1737360" cy="0"/>
          </a:xfrm>
          <a:prstGeom prst="line">
            <a:avLst/>
          </a:prstGeom>
          <a:noFill/>
          <a:ln w="12700">
            <a:solidFill>
              <a:srgbClr val="2E9E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212848"/>
            <a:ext cx="1965960" cy="475488"/>
          </a:xfrm>
          <a:prstGeom prst="roundRect">
            <a:avLst>
              <a:gd name="adj" fmla="val 13462"/>
            </a:avLst>
          </a:prstGeom>
          <a:solidFill>
            <a:srgbClr val="1F6D45"/>
          </a:solidFill>
          <a:ln w="12700">
            <a:solidFill>
              <a:srgbClr val="1F6D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231343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15768" y="2212848"/>
            <a:ext cx="7388352" cy="475488"/>
          </a:xfrm>
          <a:prstGeom prst="roundRect">
            <a:avLst>
              <a:gd name="adj" fmla="val 13462"/>
            </a:avLst>
          </a:prstGeom>
          <a:solidFill>
            <a:srgbClr val="1F6D45"/>
          </a:solidFill>
          <a:ln w="12700">
            <a:solidFill>
              <a:srgbClr val="1F6D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25496" y="2313432"/>
            <a:ext cx="7168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VERIFICAÇÃO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104120" y="2212848"/>
            <a:ext cx="1051560" cy="475488"/>
          </a:xfrm>
          <a:prstGeom prst="roundRect">
            <a:avLst>
              <a:gd name="adj" fmla="val 13462"/>
            </a:avLst>
          </a:prstGeom>
          <a:solidFill>
            <a:srgbClr val="1F6D45"/>
          </a:solidFill>
          <a:ln w="12700">
            <a:solidFill>
              <a:srgbClr val="1F6D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13848" y="2313432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9808" y="2743200"/>
            <a:ext cx="196596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5E1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15768" y="2743200"/>
            <a:ext cx="7388352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5E1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04120" y="2743200"/>
            <a:ext cx="105156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5E1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9536" y="2843784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3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825496" y="2816352"/>
            <a:ext cx="7168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Cadastro, login, sessão, F5 e logout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296144" y="2825496"/>
            <a:ext cx="667512" cy="310896"/>
          </a:xfrm>
          <a:prstGeom prst="roundRect">
            <a:avLst>
              <a:gd name="adj" fmla="val 23529"/>
            </a:avLst>
          </a:prstGeom>
          <a:solidFill>
            <a:srgbClr val="2E9E63"/>
          </a:solidFill>
          <a:ln w="12700">
            <a:solidFill>
              <a:srgbClr val="2E9E6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296144" y="2834640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9808" y="3273552"/>
            <a:ext cx="1965960" cy="475488"/>
          </a:xfrm>
          <a:prstGeom prst="roundRect">
            <a:avLst>
              <a:gd name="adj" fmla="val 13462"/>
            </a:avLst>
          </a:prstGeom>
          <a:solidFill>
            <a:srgbClr val="F4F8F5"/>
          </a:solidFill>
          <a:ln w="12700">
            <a:solidFill>
              <a:srgbClr val="D5E1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15768" y="3273552"/>
            <a:ext cx="7388352" cy="475488"/>
          </a:xfrm>
          <a:prstGeom prst="roundRect">
            <a:avLst>
              <a:gd name="adj" fmla="val 13462"/>
            </a:avLst>
          </a:prstGeom>
          <a:solidFill>
            <a:srgbClr val="F4F8F5"/>
          </a:solidFill>
          <a:ln w="12700">
            <a:solidFill>
              <a:srgbClr val="D5E1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04120" y="3273552"/>
            <a:ext cx="1051560" cy="475488"/>
          </a:xfrm>
          <a:prstGeom prst="roundRect">
            <a:avLst>
              <a:gd name="adj" fmla="val 13462"/>
            </a:avLst>
          </a:prstGeom>
          <a:solidFill>
            <a:srgbClr val="F4F8F5"/>
          </a:solidFill>
          <a:ln w="12700">
            <a:solidFill>
              <a:srgbClr val="D5E1D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9536" y="3374136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3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825496" y="3346704"/>
            <a:ext cx="7168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Cadastro, exibição, edição e detalhes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296144" y="3355848"/>
            <a:ext cx="667512" cy="310896"/>
          </a:xfrm>
          <a:prstGeom prst="roundRect">
            <a:avLst>
              <a:gd name="adj" fmla="val 23529"/>
            </a:avLst>
          </a:prstGeom>
          <a:solidFill>
            <a:srgbClr val="2E9E63"/>
          </a:solidFill>
          <a:ln w="12700">
            <a:solidFill>
              <a:srgbClr val="2E9E6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296144" y="3364992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9808" y="3803904"/>
            <a:ext cx="196596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5E1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15768" y="3803904"/>
            <a:ext cx="7388352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5E1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04120" y="3803904"/>
            <a:ext cx="105156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5E1D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9536" y="3904488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3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825496" y="3877056"/>
            <a:ext cx="7168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por nome + categoria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296144" y="3886200"/>
            <a:ext cx="667512" cy="310896"/>
          </a:xfrm>
          <a:prstGeom prst="roundRect">
            <a:avLst>
              <a:gd name="adj" fmla="val 23529"/>
            </a:avLst>
          </a:prstGeom>
          <a:solidFill>
            <a:srgbClr val="2E9E63"/>
          </a:solidFill>
          <a:ln w="12700">
            <a:solidFill>
              <a:srgbClr val="2E9E6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296144" y="3895344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49808" y="4334256"/>
            <a:ext cx="1965960" cy="475488"/>
          </a:xfrm>
          <a:prstGeom prst="roundRect">
            <a:avLst>
              <a:gd name="adj" fmla="val 13462"/>
            </a:avLst>
          </a:prstGeom>
          <a:solidFill>
            <a:srgbClr val="F4F8F5"/>
          </a:solidFill>
          <a:ln w="12700">
            <a:solidFill>
              <a:srgbClr val="D5E1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15768" y="4334256"/>
            <a:ext cx="7388352" cy="475488"/>
          </a:xfrm>
          <a:prstGeom prst="roundRect">
            <a:avLst>
              <a:gd name="adj" fmla="val 13462"/>
            </a:avLst>
          </a:prstGeom>
          <a:solidFill>
            <a:srgbClr val="F4F8F5"/>
          </a:solidFill>
          <a:ln w="12700">
            <a:solidFill>
              <a:srgbClr val="D5E1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04120" y="4334256"/>
            <a:ext cx="1051560" cy="475488"/>
          </a:xfrm>
          <a:prstGeom prst="roundRect">
            <a:avLst>
              <a:gd name="adj" fmla="val 13462"/>
            </a:avLst>
          </a:prstGeom>
          <a:solidFill>
            <a:srgbClr val="F4F8F5"/>
          </a:solidFill>
          <a:ln w="12700">
            <a:solidFill>
              <a:srgbClr val="D5E1D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9536" y="443484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3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2825496" y="4407408"/>
            <a:ext cx="7168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Dados, avaliação e erros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296144" y="4416552"/>
            <a:ext cx="667512" cy="310896"/>
          </a:xfrm>
          <a:prstGeom prst="roundRect">
            <a:avLst>
              <a:gd name="adj" fmla="val 23529"/>
            </a:avLst>
          </a:prstGeom>
          <a:solidFill>
            <a:srgbClr val="2E9E63"/>
          </a:solidFill>
          <a:ln w="12700">
            <a:solidFill>
              <a:srgbClr val="2E9E6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296144" y="4425696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49808" y="4864608"/>
            <a:ext cx="196596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5E1D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15768" y="4864608"/>
            <a:ext cx="7388352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5E1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104120" y="4864608"/>
            <a:ext cx="105156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5E1D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59536" y="4965192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3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/ SPA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2825496" y="4937760"/>
            <a:ext cx="7168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Componentes, estados, navegação e console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0296144" y="4946904"/>
            <a:ext cx="667512" cy="310896"/>
          </a:xfrm>
          <a:prstGeom prst="roundRect">
            <a:avLst>
              <a:gd name="adj" fmla="val 23529"/>
            </a:avLst>
          </a:prstGeom>
          <a:solidFill>
            <a:srgbClr val="2E9E63"/>
          </a:solidFill>
          <a:ln w="12700">
            <a:solidFill>
              <a:srgbClr val="2E9E6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296144" y="4956048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49808" y="5394960"/>
            <a:ext cx="1965960" cy="475488"/>
          </a:xfrm>
          <a:prstGeom prst="roundRect">
            <a:avLst>
              <a:gd name="adj" fmla="val 13462"/>
            </a:avLst>
          </a:prstGeom>
          <a:solidFill>
            <a:srgbClr val="F4F8F5"/>
          </a:solidFill>
          <a:ln w="12700">
            <a:solidFill>
              <a:srgbClr val="D5E1D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15768" y="5394960"/>
            <a:ext cx="7388352" cy="475488"/>
          </a:xfrm>
          <a:prstGeom prst="roundRect">
            <a:avLst>
              <a:gd name="adj" fmla="val 13462"/>
            </a:avLst>
          </a:prstGeom>
          <a:solidFill>
            <a:srgbClr val="F4F8F5"/>
          </a:solidFill>
          <a:ln w="12700">
            <a:solidFill>
              <a:srgbClr val="D5E1D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104120" y="5394960"/>
            <a:ext cx="1051560" cy="475488"/>
          </a:xfrm>
          <a:prstGeom prst="roundRect">
            <a:avLst>
              <a:gd name="adj" fmla="val 13462"/>
            </a:avLst>
          </a:prstGeom>
          <a:solidFill>
            <a:srgbClr val="F4F8F5"/>
          </a:solidFill>
          <a:ln w="12700">
            <a:solidFill>
              <a:srgbClr val="D5E1D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59536" y="5495544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3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Responsividade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2825496" y="5468112"/>
            <a:ext cx="7168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Desktop, tablet, mobile e overflow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0296144" y="5477256"/>
            <a:ext cx="667512" cy="310896"/>
          </a:xfrm>
          <a:prstGeom prst="roundRect">
            <a:avLst>
              <a:gd name="adj" fmla="val 23529"/>
            </a:avLst>
          </a:prstGeom>
          <a:solidFill>
            <a:srgbClr val="2E9E63"/>
          </a:solidFill>
          <a:ln w="12700">
            <a:solidFill>
              <a:srgbClr val="2E9E63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296144" y="5486400"/>
            <a:ext cx="667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21792" y="6000982"/>
            <a:ext cx="10680192" cy="493776"/>
          </a:xfrm>
          <a:prstGeom prst="roundRect">
            <a:avLst>
              <a:gd name="adj" fmla="val 12963"/>
            </a:avLst>
          </a:prstGeom>
          <a:solidFill>
            <a:srgbClr val="153F29"/>
          </a:solidFill>
          <a:ln w="12700">
            <a:solidFill>
              <a:srgbClr val="153F29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73252" y="6162514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build  →  build de produção concluído com sucesso</a:t>
            </a:r>
            <a:endParaRPr lang="en-US" sz="120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87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210" dirty="0">
                <a:solidFill>
                  <a:srgbClr val="2E9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PUBLICAÇÃO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8638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53F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Código no GitHub e aplicação publicada na Vercel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3990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projeto passou do ambiente local para acesso público pela internet.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1737360" cy="0"/>
          </a:xfrm>
          <a:prstGeom prst="line">
            <a:avLst/>
          </a:prstGeom>
          <a:noFill/>
          <a:ln w="12700">
            <a:solidFill>
              <a:srgbClr val="2E9E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240280"/>
            <a:ext cx="4892040" cy="3401568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C9D9D0"/>
            </a:solidFill>
            <a:prstDash val="solid"/>
          </a:ln>
          <a:effectLst>
            <a:outerShdw blurRad="25400" dist="50800" dir="2700000" algn="bl" rotWithShape="0">
              <a:srgbClr val="93A69D">
                <a:alpha val="13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42416" y="2514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2E9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CÓDIGO-FONTE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281635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53F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42416" y="3374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completo do projeto</a:t>
            </a:r>
            <a:endParaRPr lang="en-US" sz="1150" dirty="0"/>
          </a:p>
        </p:txBody>
      </p:sp>
      <p:sp>
        <p:nvSpPr>
          <p:cNvPr id="10" name="Text 8">
            <a:hlinkClick r:id="rId3"/>
          </p:cNvPr>
          <p:cNvSpPr txBox="1"/>
          <p:nvPr/>
        </p:nvSpPr>
        <p:spPr>
          <a:xfrm>
            <a:off x="1042416" y="387705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u="sng" dirty="0">
                <a:solidFill>
                  <a:srgbClr val="1F6D4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github.com/wendersonnCosta/vida-util-plus</a:t>
            </a:r>
            <a:endParaRPr lang="en-US" sz="1050" dirty="0"/>
          </a:p>
        </p:txBody>
      </p:sp>
      <p:pic>
        <p:nvPicPr>
          <p:cNvPr id="11" name="Image 0" descr="/mnt/data/qr/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56" y="3657600"/>
            <a:ext cx="841248" cy="84124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925312" y="2240280"/>
            <a:ext cx="4892040" cy="3401568"/>
          </a:xfrm>
          <a:prstGeom prst="roundRect">
            <a:avLst>
              <a:gd name="adj" fmla="val 1882"/>
            </a:avLst>
          </a:prstGeom>
          <a:solidFill>
            <a:srgbClr val="1F6D45"/>
          </a:solidFill>
          <a:ln w="12700">
            <a:solidFill>
              <a:srgbClr val="1F6D4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2514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AEE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PUBLICADA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281635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Vercel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33741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DCEF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público à aplicação</a:t>
            </a:r>
            <a:endParaRPr lang="en-US" sz="1150" dirty="0"/>
          </a:p>
        </p:txBody>
      </p:sp>
      <p:sp>
        <p:nvSpPr>
          <p:cNvPr id="17" name="Text 14">
            <a:hlinkClick r:id="rId5"/>
          </p:cNvPr>
          <p:cNvSpPr txBox="1"/>
          <p:nvPr/>
        </p:nvSpPr>
        <p:spPr>
          <a:xfrm>
            <a:off x="6217920" y="387705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vida-util-mais-plus.vercel.app</a:t>
            </a:r>
            <a:endParaRPr lang="en-US" sz="1050" dirty="0"/>
          </a:p>
        </p:txBody>
      </p:sp>
      <p:pic>
        <p:nvPicPr>
          <p:cNvPr id="18" name="Image 1" descr="/mnt/data/qr/vida_util_pl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0" y="3657600"/>
            <a:ext cx="841248" cy="8412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87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210" dirty="0">
                <a:solidFill>
                  <a:srgbClr val="2E9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CONCLUSÃO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8638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53F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entregamos com o Vida Útil+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49808" y="3547872"/>
            <a:ext cx="1901952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C9D9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7947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3F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21538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e detalhes sobre durabilidade.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16936" y="3547872"/>
            <a:ext cx="1901952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C9D9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81528" y="37947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3F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Interagir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081528" y="421538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Busca, filtros, cadastro, login e edição.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84064" y="3547872"/>
            <a:ext cx="1901952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C9D9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48656" y="37947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3F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48656" y="421538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React, componentes, estado e SPA.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51192" y="3547872"/>
            <a:ext cx="1901952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C9D9D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15784" y="37947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3F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Conectar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415784" y="421538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externa + JSON + tratamento de erros.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418320" y="3547872"/>
            <a:ext cx="1901952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C9D9D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82912" y="37947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3F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Disponibilizar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582912" y="421538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+ Vercel para acesso público.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68096" y="526694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2E9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evolução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139696" y="520293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0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+ banco de dados para persistência compartilhada e suporte a múltiplos usuários.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226296" y="5725403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F6D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Obrigado!</a:t>
            </a:r>
            <a:endParaRPr lang="en-US" sz="28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87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DB8B210D-F74A-739F-F149-AD2891AC0DA9}"/>
              </a:ext>
            </a:extLst>
          </p:cNvPr>
          <p:cNvSpPr txBox="1"/>
          <p:nvPr/>
        </p:nvSpPr>
        <p:spPr>
          <a:xfrm>
            <a:off x="1752799" y="2156725"/>
            <a:ext cx="883138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just"/>
            <a:r>
              <a:rPr lang="pt-BR" dirty="0"/>
              <a:t>O desenvolvimento do </a:t>
            </a:r>
            <a:r>
              <a:rPr lang="pt-BR" b="1" dirty="0"/>
              <a:t>Vida Útil+</a:t>
            </a:r>
            <a:r>
              <a:rPr lang="pt-BR" dirty="0"/>
              <a:t> possibilitou transformar uma proposta inicialmente estática em uma aplicação web interativa, funcional e acessível, capaz de apresentar informações sobre a durabilidade dos produtos e estimular práticas de consumo mais conscientes. Dessa forma, o projeto não se limita ao desenvolvimento técnico de um site. Ele procura utilizar a tecnologia como uma ferramenta de </a:t>
            </a:r>
            <a:r>
              <a:rPr lang="pt-BR" b="1" dirty="0"/>
              <a:t>educação e conscientização</a:t>
            </a:r>
            <a:r>
              <a:rPr lang="pt-BR" dirty="0"/>
              <a:t>, aproximando recursos de desenvolvimento web de uma questão social e ambiental. 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1558</Words>
  <Application>Microsoft Office PowerPoint</Application>
  <PresentationFormat>Widescreen</PresentationFormat>
  <Paragraphs>203</Paragraphs>
  <Slides>12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Courier New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Universidade Estadual do Maranhão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Vida Útil+ — Apresentação do Projeto</dc:title>
  <dc:subject>Relatório de Finalização do Projeto Vida Útil+</dc:subject>
  <dc:creator>Wenderson de Jesus da Costa Silva / Luciano Ferreira Pontes</dc:creator>
  <cp:lastModifiedBy>wenderson costa</cp:lastModifiedBy>
  <cp:revision>2</cp:revision>
  <dcterms:created xsi:type="dcterms:W3CDTF">2026-09-18T16:55:06Z</dcterms:created>
  <dcterms:modified xsi:type="dcterms:W3CDTF">2026-09-18T18:21:02Z</dcterms:modified>
</cp:coreProperties>
</file>