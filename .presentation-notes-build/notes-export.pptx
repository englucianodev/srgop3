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1bf77ff2f4246" /><Relationship Type="http://schemas.openxmlformats.org/officeDocument/2006/relationships/extended-properties" Target="/docProps/app.xml" Id="R91a363852ab948be" /><Relationship Type="http://schemas.openxmlformats.org/officeDocument/2006/relationships/officeDocument" Target="/ppt/presentation.xml" Id="R8bfdf415653546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7d4b8c578a41ac"/>
  </p:sldMasterIdLst>
  <p:notesMasterIdLst>
    <p:notesMasterId xmlns:r="http://schemas.openxmlformats.org/officeDocument/2006/relationships" r:id="R20864cdd34184197"/>
  </p:notesMasterIdLst>
  <p:sldIdLst>
    <p:sldId xmlns:r="http://schemas.openxmlformats.org/officeDocument/2006/relationships" id="256" r:id="R130319f38d6f4c32"/>
    <p:sldId xmlns:r="http://schemas.openxmlformats.org/officeDocument/2006/relationships" id="257" r:id="R6b9efcc664cd4f0f"/>
    <p:sldId xmlns:r="http://schemas.openxmlformats.org/officeDocument/2006/relationships" id="258" r:id="R4c509622e1994198"/>
    <p:sldId xmlns:r="http://schemas.openxmlformats.org/officeDocument/2006/relationships" id="259" r:id="R1fa14f7bfa264da8"/>
    <p:sldId xmlns:r="http://schemas.openxmlformats.org/officeDocument/2006/relationships" id="260" r:id="R4942ce433d624e87"/>
    <p:sldId xmlns:r="http://schemas.openxmlformats.org/officeDocument/2006/relationships" id="261" r:id="R0d3f716aa3104940"/>
    <p:sldId xmlns:r="http://schemas.openxmlformats.org/officeDocument/2006/relationships" id="262" r:id="Rff36990877444eaa"/>
    <p:sldId xmlns:r="http://schemas.openxmlformats.org/officeDocument/2006/relationships" id="263" r:id="R00dd982a6053407b"/>
    <p:sldId xmlns:r="http://schemas.openxmlformats.org/officeDocument/2006/relationships" id="264" r:id="Re39b8f6b204342a1"/>
    <p:sldId xmlns:r="http://schemas.openxmlformats.org/officeDocument/2006/relationships" id="265" r:id="Rb0494086fe9846ac"/>
    <p:sldId xmlns:r="http://schemas.openxmlformats.org/officeDocument/2006/relationships" id="266" r:id="Rb0819f11c6a44219"/>
    <p:sldId xmlns:r="http://schemas.openxmlformats.org/officeDocument/2006/relationships" id="267" r:id="Ra6b04277c7504e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bc475673d84d68" /><Relationship Type="http://schemas.openxmlformats.org/officeDocument/2006/relationships/slideMaster" Target="/ppt/slideMasters/slideMaster1.xml" Id="R997d4b8c578a41ac" /><Relationship Type="http://schemas.openxmlformats.org/officeDocument/2006/relationships/notesMaster" Target="/ppt/notesMasters/notesMaster1.xml" Id="R20864cdd34184197" /><Relationship Type="http://schemas.openxmlformats.org/officeDocument/2006/relationships/presProps" Target="/ppt/presProps.xml" Id="R0888128858144f6f" /><Relationship Type="http://schemas.openxmlformats.org/officeDocument/2006/relationships/viewProps" Target="/ppt/viewProps.xml" Id="Rf3eff36fd5f642b7" /><Relationship Type="http://schemas.openxmlformats.org/officeDocument/2006/relationships/tableStyles" Target="/ppt/tableStyles.xml" Id="Rca75fa79f97b46fb" /><Relationship Type="http://schemas.openxmlformats.org/officeDocument/2006/relationships/slide" Target="/ppt/slides/slide1.xml" Id="R130319f38d6f4c32" /><Relationship Type="http://schemas.openxmlformats.org/officeDocument/2006/relationships/slide" Target="/ppt/slides/slide2.xml" Id="R6b9efcc664cd4f0f" /><Relationship Type="http://schemas.openxmlformats.org/officeDocument/2006/relationships/slide" Target="/ppt/slides/slide3.xml" Id="R4c509622e1994198" /><Relationship Type="http://schemas.openxmlformats.org/officeDocument/2006/relationships/slide" Target="/ppt/slides/slide4.xml" Id="R1fa14f7bfa264da8" /><Relationship Type="http://schemas.openxmlformats.org/officeDocument/2006/relationships/slide" Target="/ppt/slides/slide5.xml" Id="R4942ce433d624e87" /><Relationship Type="http://schemas.openxmlformats.org/officeDocument/2006/relationships/slide" Target="/ppt/slides/slide6.xml" Id="R0d3f716aa3104940" /><Relationship Type="http://schemas.openxmlformats.org/officeDocument/2006/relationships/slide" Target="/ppt/slides/slide7.xml" Id="Rff36990877444eaa" /><Relationship Type="http://schemas.openxmlformats.org/officeDocument/2006/relationships/slide" Target="/ppt/slides/slide8.xml" Id="R00dd982a6053407b" /><Relationship Type="http://schemas.openxmlformats.org/officeDocument/2006/relationships/slide" Target="/ppt/slides/slide9.xml" Id="Re39b8f6b204342a1" /><Relationship Type="http://schemas.openxmlformats.org/officeDocument/2006/relationships/slide" Target="/ppt/slides/slide10.xml" Id="Rb0494086fe9846ac" /><Relationship Type="http://schemas.openxmlformats.org/officeDocument/2006/relationships/slide" Target="/ppt/slides/slide11.xml" Id="Rb0819f11c6a44219" /><Relationship Type="http://schemas.openxmlformats.org/officeDocument/2006/relationships/slide" Target="/ppt/slides/slide12.xml" Id="Ra6b04277c750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1171ed7834a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5b853f45747b0" /><Relationship Type="http://schemas.openxmlformats.org/officeDocument/2006/relationships/notesMaster" Target="/ppt/notesMasters/notesMaster1.xml" Id="Raa6cfb87b36444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1498d9a3a4ec8" /><Relationship Type="http://schemas.openxmlformats.org/officeDocument/2006/relationships/notesMaster" Target="/ppt/notesMasters/notesMaster1.xml" Id="R450004c28bbd47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b3d75602a946eb" /><Relationship Type="http://schemas.openxmlformats.org/officeDocument/2006/relationships/notesMaster" Target="/ppt/notesMasters/notesMaster1.xml" Id="Rdf51efe864fb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e2d6fabbd44c11" /><Relationship Type="http://schemas.openxmlformats.org/officeDocument/2006/relationships/notesMaster" Target="/ppt/notesMasters/notesMaster1.xml" Id="R823862c457d24f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327d2857b4578" /><Relationship Type="http://schemas.openxmlformats.org/officeDocument/2006/relationships/notesMaster" Target="/ppt/notesMasters/notesMaster1.xml" Id="R4a25e9def2f5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66417588a64539" /><Relationship Type="http://schemas.openxmlformats.org/officeDocument/2006/relationships/notesMaster" Target="/ppt/notesMasters/notesMaster1.xml" Id="Re937a69606ef46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e9ee308ce44d2c" /><Relationship Type="http://schemas.openxmlformats.org/officeDocument/2006/relationships/notesMaster" Target="/ppt/notesMasters/notesMaster1.xml" Id="Rd109c2f7d3504f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99fe726954384" /><Relationship Type="http://schemas.openxmlformats.org/officeDocument/2006/relationships/notesMaster" Target="/ppt/notesMasters/notesMaster1.xml" Id="R0746d7c6a47047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d18fcfd01643a9" /><Relationship Type="http://schemas.openxmlformats.org/officeDocument/2006/relationships/notesMaster" Target="/ppt/notesMasters/notesMaster1.xml" Id="Rf87e2c7811b149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cafcc2be0d4e33" /><Relationship Type="http://schemas.openxmlformats.org/officeDocument/2006/relationships/notesMaster" Target="/ppt/notesMasters/notesMaster1.xml" Id="R32bfb824ccbd49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e71f2ce0f143a6" /><Relationship Type="http://schemas.openxmlformats.org/officeDocument/2006/relationships/notesMaster" Target="/ppt/notesMasters/notesMaster1.xml" Id="R28e76d5b158f46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cc9f31dd264ac2" /><Relationship Type="http://schemas.openxmlformats.org/officeDocument/2006/relationships/notesMaster" Target="/ppt/notesMasters/notesMaster1.xml" Id="Rb4dde4303ebc4c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completo: aproximadamente 12 minutos e 35 segundos, com pequenas pausas. Os tempos são orientativos.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0:40. Tempo acumulado: 0:00 a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Olá, pessoal. Somos Wenderson de Jesus da Costa Silva e Luciano Ferreira Pontes, do curso de Análise e Desenvolvimento de Sistemas da Universidade Estadual do Maranhão. Hoje vamos apresentar o Vida Útil+, nosso projeto voltado ao consumo sustentável.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proposta é reunir informações sobre produtos e sua durabilidade em uma aplicação simples de consultar. Ao longo da apresentação, vamos explicar o problema que motivou o trabalho, mostrar como a aplicação funciona e comentar as tecnologias, os testes e a publicação. O ponto de partida é uma situação que faz parte do nosso dia a dia: a decisão de conservar, reparar ou substituir um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páginas 1, 2 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1:00. Tempo acumulado: 0:40 a 1:40.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problema que orientou o projeto foi o descarte prematuro de bens de consumo, associado à dificuldade de encontrar informações simples sobre a durabilidade desses produtos.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Pensem, por exemplo, em alguém que percebe um problema em um objeto de uso cotidiano. Antes de decidir pela troca, essa pessoa poderia procurar orientações sobre conservação ou sobre a possibilidade de reparo. Esse exemplo ajuda a entender a necessidade que motivou o Vida Útil+.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Nossa proposta é organizar essas informações em um catálogo acessível. Nele, o usuário pode pesquisar produtos, filtrar categorias e consultar detalhes. Também pode participar por meio do cadastro de novos itens.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intenção é apoiar uma reflexão sobre o uso dos produtos e sobre seu destino quando deixam de ser utilizados. É dessa relação entre informação e consumo que surge a conexão com o ODS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seção 1, página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0:50. Tempo acumulado: 1:40 a 2:30.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ODS 12 é o Objetivo de Desenvolvimento Sustentável relacionado ao consumo e à produção responsáveis. No nosso trabalho, essa conexão aparece principalmente no incentivo ao uso consciente dos produtos e à redução do descarte prematuro.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público-alvo são consumidores em geral, especialmente pessoas que desejam conhecer melhor a durabilidade dos bens que utilizam. Por isso, procuramos manter uma experiência simples, sem exigir conhecimento técnico para consultar o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objetivo da aplicação combina consulta e participação. A pessoa pode buscar informações e também cadastrar produtos para complementar os registros disponíveis no protótipo. A ideia é aproximar o tema da sustentabilidade de ações fáceis de compreender, como cuidar melhor de um item e considerar seu reparo. A partir dessa proposta, passamos ao desenvolvimento da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seção 1, página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1:05. Tempo acumulado: 2:30 a 3:35.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principal mudança nesta etapa foi transformar uma interface inicialmente estática em uma aplicação interativa. Antes, o foco estava na apresentação visual. Na finalização, acrescentamos comportamentos que respondem às ações do usuário.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Organizamos o cabeçalho, a área de apresentação, o catálogo e as demais seções. Também criamos telas para cadastro, login, gerenciamento de produtos e consulta de detalhes. Quando alguém digita uma pesquisa ou escolhe uma categoria, a lista acompanha essa escolha.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Outro recurso foi a persistência local, feita com o localStorage, um espaço de armazenamento do navegador. Ele permite manter os dados de usuários, a sessão e os produtos cadastrados após atualizar a página. Esses registros ficam vinculados àquele navegador e ao endereço da aplicação. Portanto, não aparecem automaticamente em outro dispositivo.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Além dessas funcionalidades, adaptamos a interface a diferentes tamanhos de tela. Para implementar esse conjunto de recursos, utilizamos as tecnologias do próximo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seções 2.1 a 2.3, páginas 4 a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1:05. Tempo acumulado: 3:35 a 4:40.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tecnologia teve uma função no projeto. O React organiza a interface em componentes, que são partes reutilizáveis da tela. O Vite oferece o ambiente de desenvolvimento e prepara os arquivos da versão de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JavaScript cuida da lógica das interações, como validar formulários, responder a cliques e consultar a API. O CSS define a aparência e a adaptação do layout ao computador, ao tablet e ao celular.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localStorage mantém os registros localmente. A DummyJSON fornece dados externos de produtos para demonstrarmos a integração com uma API, ou seja, uma forma de a aplicação solicitar informações a outro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 fim, o Git registra as versões do código, e o GitHub disponibiliza o repositório. A Vercel hospeda a aplicação para acesso pela internet. Assim, as ferramentas cobrem desde a construção da interface até sua publicação. Vamos agora acompanhar o percurso de quem utiliza 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seções 1, 2.3, 3, 4 e 5.2, páginas 4, 6 a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1:20. Tempo acumulado: 4:40 a 6:00.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slide resume o fluxo da aplicação. O usuário começa na página inicial, onde encontra a apresentação do projeto e o catálogo. Para localizar um item, pode pesquisar pelo nome e selecionar uma categoria. Esses critérios atualizam os resultados exibidos.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aplicação também oferece cadastro e login. Depois de entrar, o usuário acessa a área do sistema e pode cadastrar ou editar produtos. O formulário inclui nome, categoria, vida útil, descrição, dicas de conservação, possibilidade de reparo e orientação para descarte responsável. O registro recebe a identificação de quem o cadastrou.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abrir os detalhes, a pessoa consulta as informações disponíveis sobre aquele produto. É nesse ponto que a proposta do catálogo ganha utilidade: reunir orientações para ajudar a compreender melhor o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login demonstra o fluxo de autenticação dentro do escopo acadêmico. A sessão pode ser recuperada após atualizar a página, e o logout remove o registro da sessão. Como esse funcionamento usa armazenamento local, o compartilhamento de contas e produtos entre dispositivos ainda depende de uma evolução com servidor e banco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seções 2.1 a 2.3, páginas 4 a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1:35. Tempo acumulado: 6:00 a 7:35.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Além dos registros do próprio projeto, integramos uma fonte externa chamada DummyJSON, destinada a testes e prototipagem. O endereço mostrado no código solicita uma lista de até doze produtos.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Podemos entender esse processo em etapas. Primeiro, o fetch faz a consulta ao serviço. Em seguida, a aplicação verifica se a resposta foi bem-sucedida. Depois, o método json converte o conteúdo recebido em dados que o JavaScript consegue utilizar. JSON é um formato de troca de dados organizado em campos e valores.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passo seguinte é adaptar esses campos ao modelo do Vida Útil+. Por exemplo, title passa a ser nome, category passa a ser categoria, e thumbnail fornece a imagem. O map percorre os produtos e faz essa conversão.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uma limitação importante: essa API não fornece a vida útil dos produtos. Por isso, a aplicação indica que essa informação não está disponível e identifica o registro como vindo da API externa.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Também controlamos o carregamento e as falhas com try, catch e finally. Assim, o usuário recebe uma mensagem quando a consulta demora ou apresenta erro, sem interromper a interface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seção 3, página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1:25. Tempo acumulado: 7:35 a 9:00.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organizar o código, dividimos a aplicação em componentes, páginas e dados. Componentes são partes da interface que podem ser reutilizadas. Por exemplo, ProductCard representa um produto, e ProductList utiliza esse componente para montar a lista. As páginas representam telas específicas, como cadastro, login e detalhes.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App centraliza as informações principais que podem mudar durante o uso. Chamamos essas informações de estado. O useState mantém valores como a pesquisa digitada, a categoria escolhida, o usuário conectado e a tela atual. Quando um desses valores muda, o React atualiza a interface de acordo com o novo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useEffect participa de tarefas como recuperar a sessão salva e carregar os dados externos. Já as props permitem passar dados e funções entre os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navegação segue o conceito de SPA, uma aplicação de página única. As telas mudam por meio do estado, sem carregar um novo documento HTML a cada ação. Neste projeto, usamos esse controle diretamente, sem um roteador externo. Essa organização manteve a estrutura adequada ao tamanho da atividade e facilitou a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seções 4.1 a 4.3, páginas 8 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0:45. Tempo acumulado: 9:00 a 9:45.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Aqui vemos a aplicação em diferentes tamanhos de tela. A responsividade permite que a organização visual acompanhe o espaço disponível no dispositivo.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 testes em computador, tablet e celular, verificamos se menus e campos se reorganizavam e se os cartões de produtos continuavam adequados à tela. Também observamos a ausência de rolagem horizontal, para evitar que a pessoa precisasse deslocar a página para os lados para acessar 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objetivo foi manter os principais fluxos utilizáveis nos três formatos. Essa verificação é importante porque o público pode acessar o catálogo tanto em uma tela grande quanto pelo celular. Além da aparência, também testamos o funcionamento dos recursos, como mostra o próximo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seções 2.1 e 5.1, páginas 5 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1:05. Tempo acumulado: 9:45 a 10:50.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da publicação, verificamos os principais fluxos da aplicação. Na parte de usuário, testamos cadastro, login, permanência da sessão após atualizar a página com F5 e logout. Nos produtos, conferimos cadastro, exibição, edição e consulta de detalhes.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Também testamos a busca por nome e categoria. Neste slide, pesquisa aparece como uma frente própria. No relatório, ela está dentro do grupo de produtos. Por isso, o relatório reúne cinco grupos, enquanto aqui os mesmos temas estão distribuídos em seis frentes.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API, verificamos a apresentação dos dados e o tratamento de erros. Na organização React e SPA, avaliamos os estados, a navegação e o console. A responsividade completou a validação, com os resultados registrados como aprovados no relatório.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 último, executamos npm run build. Esse comando gerou com sucesso o pacote de produção, que reúne os arquivos preparados para publicação. Com essas verificações concluídas, passamos à disponibilização do projeto na internet.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seção 5.1, página 10. No relatório, pesquisa está incluída no grupo Produtos; o slide a apresenta separadamente.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0:40. Tempo acumulado: 10:50 a 11:30.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publicação envolveu dois destinos com funções diferentes. No GitHub, disponibilizamos o código-fonte e a estrutura do projeto, permitindo consultar os componentes, as páginas, os estilos e as configurações.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Vercel, disponibilizamos a aplicação para uso pelo navegador. O repositório foi conectado à hospedagem, completando o caminho entre o desenvolvimento local e o acesso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endereços estão neste slide para quem quiser conhecer o código ou experimentar o sistema. Essa etapa encerrou a entrega técnica: a aplicação passou a ter uma versão publicada, além dos arquivos de desenvolvimento. Para concluir, vamos retomar os resultados e o que ainda pode evoluir.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seção 5.2, páginas 10 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DA APRESENTAÇÃO</a:t>
            </a:r>
          </a:p>
          <a:p xmlns:a="http://schemas.openxmlformats.org/drawingml/2006/main">
            <a:r>
              <a:t>Tempo sugerido: 1:05. Tempo acumulado: 11:30 a 12:35.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 o Vida Útil+, transformamos uma proposta inicialmente estática em uma aplicação interativa e publicada. O catálogo ganhou busca, filtros e detalhes, além dos fluxos de cadastro, login e edição de produtos. Também organizamos o código com React e integramos dados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Entre os aprendizados, destacamos a divisão da interface em componentes e o controle dos estados. A migração para o React, a coordenação da navegação com a sessão e o tratamento dos dados da API foram desafios que exigiram ajustes e testes.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principal evolução futura é acrescentar um backend, que é a parte executada no servidor, com um banco de dados. Isso permitiria centralizar contas e produtos e compartilhar os registros entre dispositivos. Outra possibilidade é ampliar as fontes e melhorar as informações sobre durabilidade e conservação.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projeto aproxima o desenvolvimento web de uma questão cotidiana: como utilizar melhor aquilo que consumimos. A contribuição proposta é tornar essas informações mais acessíveis e apoiar escolhas conscientes. Agradecemos a atenção e ficamos à disposição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de apoio (não ler em voz alta): Relatório, seção 6, página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b79bf5dac40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54aa7add5485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_LIGHT">
    <p:bg>
      <p:bgPr>
        <a:solidFill xmlns:a="http://schemas.openxmlformats.org/drawingml/2006/main">
          <a:srgbClr val="EA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5BF61B-B2E7-4253-AA3F-3472751D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BF14EE-AE0E-4232-8192-12ABA326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55624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20">
                <a:solidFill>
                  <a:srgbClr val="58766A"/>
                </a:solidFill>
                <a:latin typeface="Arial"/>
                <a:ea typeface="Arial"/>
                <a:cs typeface="Arial"/>
              </a:rPr>
              <a:t>VIDA ÚTIL+</a:t>
            </a:r>
            <a:endParaRPr sz="8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AF9B24A-BC57-4E68-A97B-8F3C334DB77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edc48e0b041d3" /><Relationship Type="http://schemas.openxmlformats.org/officeDocument/2006/relationships/slideLayout" Target="/ppt/slideLayouts/slideLayout1.xml" Id="R1546d4660cfa4104" /><Relationship Type="http://schemas.openxmlformats.org/officeDocument/2006/relationships/slideLayout" Target="/ppt/slideLayouts/slideLayout2.xml" Id="R38b697123dd946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66DAF2-87F3-4AE9-88E1-E496926585D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6d4660cfa4104"/>
    <p:sldLayoutId xmlns:r="http://schemas.openxmlformats.org/officeDocument/2006/relationships" id="2147483650" r:id="R38b697123dd9461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9eda31735424d" /><Relationship Type="http://schemas.openxmlformats.org/officeDocument/2006/relationships/image" Target="/ppt/media/image.jpeg" Id="Rb96339b5dd74431b" /><Relationship Type="http://schemas.openxmlformats.org/officeDocument/2006/relationships/notesSlide" Target="/ppt/notesSlides/notesSlide1.xml" Id="Rd26cf5bad41646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c23eb55724146" /><Relationship Type="http://schemas.openxmlformats.org/officeDocument/2006/relationships/image" Target="/ppt/media/image2.jpeg" Id="R2f5c46a44c384d72" /><Relationship Type="http://schemas.openxmlformats.org/officeDocument/2006/relationships/notesSlide" Target="/ppt/notesSlides/notesSlide2.xml" Id="R04b61c2934ba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51723b90694ab5" /><Relationship Type="http://schemas.openxmlformats.org/officeDocument/2006/relationships/notesSlide" Target="/ppt/notesSlides/notesSlide3.xml" Id="R2cba9d85a2d749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bcd3e43b344f94" /><Relationship Type="http://schemas.openxmlformats.org/officeDocument/2006/relationships/notesSlide" Target="/ppt/notesSlides/notesSlide4.xml" Id="R63b7edef73bd42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575e816568427f" /><Relationship Type="http://schemas.openxmlformats.org/officeDocument/2006/relationships/image" Target="/ppt/media/image3.jpeg" Id="R19cfb5f347804fd7" /><Relationship Type="http://schemas.openxmlformats.org/officeDocument/2006/relationships/notesSlide" Target="/ppt/notesSlides/notesSlide5.xml" Id="R397c977bdb81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58308ff774d03" /><Relationship Type="http://schemas.openxmlformats.org/officeDocument/2006/relationships/image" Target="/ppt/media/image4.jpeg" Id="R773ccc57e40e40c8" /><Relationship Type="http://schemas.openxmlformats.org/officeDocument/2006/relationships/image" Target="/ppt/media/image5.jpeg" Id="R8d3e2c55c8d04a5e" /><Relationship Type="http://schemas.openxmlformats.org/officeDocument/2006/relationships/image" Target="/ppt/media/image6.jpeg" Id="R7f4e48debec849de" /><Relationship Type="http://schemas.openxmlformats.org/officeDocument/2006/relationships/notesSlide" Target="/ppt/notesSlides/notesSlide6.xml" Id="Rfc140479822546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5f023042541b9" /><Relationship Type="http://schemas.openxmlformats.org/officeDocument/2006/relationships/notesSlide" Target="/ppt/notesSlides/notesSlide7.xml" Id="Rffd92e50eee741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48b4fbbc54970" /><Relationship Type="http://schemas.openxmlformats.org/officeDocument/2006/relationships/image" Target="/ppt/media/image7.jpeg" Id="R73aafe7f674441a0" /><Relationship Type="http://schemas.openxmlformats.org/officeDocument/2006/relationships/notesSlide" Target="/ppt/notesSlides/notesSlide8.xml" Id="R1e2dcd9dffbc40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5b39ba14904416" /><Relationship Type="http://schemas.openxmlformats.org/officeDocument/2006/relationships/image" Target="/ppt/media/image8.jpeg" Id="R0c09493f2c0047b1" /><Relationship Type="http://schemas.openxmlformats.org/officeDocument/2006/relationships/image" Target="/ppt/media/image4.jpeg" Id="R744f73f3713b4c7a" /><Relationship Type="http://schemas.openxmlformats.org/officeDocument/2006/relationships/image" Target="/ppt/media/image5.jpeg" Id="R122cea795cfb475a" /><Relationship Type="http://schemas.openxmlformats.org/officeDocument/2006/relationships/notesSlide" Target="/ppt/notesSlides/notesSlide9.xml" Id="Rfe6bdd1b36894b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bc870268184c60" /><Relationship Type="http://schemas.openxmlformats.org/officeDocument/2006/relationships/notesSlide" Target="/ppt/notesSlides/notesSlide10.xml" Id="R7c64fa0f04c447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30dfc275a4a90" /><Relationship Type="http://schemas.openxmlformats.org/officeDocument/2006/relationships/hyperlink" Target="https://github.com/wendersonnCosta/vida-util-plus" TargetMode="External" Id="Rcc6a0124de0a43aa" /><Relationship Type="http://schemas.openxmlformats.org/officeDocument/2006/relationships/hyperlink" Target="https://github.com/wendersonnCosta/vida-util-plus" TargetMode="External" Id="R1749172be2624816" /><Relationship Type="http://schemas.openxmlformats.org/officeDocument/2006/relationships/image" Target="/ppt/media/image.png" Id="Rc10f90b4e61d48a1" /><Relationship Type="http://schemas.openxmlformats.org/officeDocument/2006/relationships/hyperlink" Target="https://vida-util-mais-plus.vercel.app/" TargetMode="External" Id="Rc279e63c2b5e4fd0" /><Relationship Type="http://schemas.openxmlformats.org/officeDocument/2006/relationships/hyperlink" Target="https://vida-util-mais-plus.vercel.app/" TargetMode="External" Id="R0dcccb65732146c4" /><Relationship Type="http://schemas.openxmlformats.org/officeDocument/2006/relationships/image" Target="/ppt/media/image2.png" Id="R9f2115fb7c8847f2" /><Relationship Type="http://schemas.openxmlformats.org/officeDocument/2006/relationships/notesSlide" Target="/ppt/notesSlides/notesSlide11.xml" Id="Rd48fdb8e50c449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95ae083add4030" /><Relationship Type="http://schemas.openxmlformats.org/officeDocument/2006/relationships/notesSlide" Target="/ppt/notesSlides/notesSlide12.xml" Id="R9a236527989f4a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6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339b5dd7443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063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c46a44c38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8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2B13BC-B909-4A8A-ADEE-22CCADFD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01 · CONTEXTO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A624C6-DCAE-4FD8-AB74-42D16D5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ODS 12, público-alvo e objetivo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9D3734-0CA5-4598-B265-4321DDAA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A proposta combina informação, consulta e participação do usuário.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32A66F-4177-4360-9DDD-53994A2E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152D98-82B6-498B-86CC-2BEA7944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39696"/>
            <a:ext cx="3172968" cy="3456432"/>
          </a:xfrm>
          <a:prstGeom xmlns:a="http://schemas.openxmlformats.org/drawingml/2006/main" prst="roundRect">
            <a:avLst>
              <a:gd name="adj" fmla="val 2017"/>
            </a:avLst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029631-7F48-4A63-B893-6E83E7AD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40864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01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8735008-0A2F-434E-AA7D-A6784FA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97480"/>
            <a:ext cx="2697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ODS 12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B17CE3-6E1E-49D5-99BA-2FA6F85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364992"/>
            <a:ext cx="2697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DDEFE6"/>
                </a:solidFill>
                <a:latin typeface="Arial"/>
                <a:ea typeface="Arial"/>
                <a:cs typeface="Arial"/>
              </a:rPr>
              <a:t>Consumo e Produção Responsáveis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9E38210-2EAE-4AC9-8688-8031B802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95928"/>
            <a:ext cx="2697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E7F2EC"/>
                </a:solidFill>
                <a:latin typeface="Arial"/>
                <a:ea typeface="Arial"/>
                <a:cs typeface="Arial"/>
              </a:rPr>
              <a:t>Informar para apoiar escolhas de consumo mais conscientes e reduzir o descarte prematuro.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29F495-8B30-44ED-8487-11D0C67A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139696"/>
            <a:ext cx="3172968" cy="3456432"/>
          </a:xfrm>
          <a:prstGeom xmlns:a="http://schemas.openxmlformats.org/drawingml/2006/main" prst="roundRect">
            <a:avLst>
              <a:gd name="adj" fmla="val 20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13956E-EA5C-4B5B-A132-DCD9143C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340864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02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E24421-6EE7-401E-A613-AF42AB1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697480"/>
            <a:ext cx="2697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Público-alvo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9A6C413-FD61-48C8-8CE2-647C9BCF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3364992"/>
            <a:ext cx="2697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Consumidores em geral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692F060-4EBE-4808-840B-C1C93C19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3995928"/>
            <a:ext cx="2697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5B6F66"/>
                </a:solidFill>
                <a:latin typeface="Arial"/>
                <a:ea typeface="Arial"/>
                <a:cs typeface="Arial"/>
              </a:rPr>
              <a:t>Pessoas que desejam conhecer melhor a durabilidade de bens de uso cotidiano.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2068A9D-F18C-4F8B-ABE4-7EA301FE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2139696"/>
            <a:ext cx="3721608" cy="3456432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975A83-4659-4ED6-92E1-6F1AC4D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40864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9AD54A3-0F91-4CA7-B971-908E3D2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97480"/>
            <a:ext cx="3246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Objetivo da aplicação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7CEFA03-DF75-4BB8-B607-EB36A633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64992"/>
            <a:ext cx="32461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Catálogo + interação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1ACECA9-95B9-46CC-B869-76637EDC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95928"/>
            <a:ext cx="32461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5B6F66"/>
                </a:solidFill>
                <a:latin typeface="Arial"/>
                <a:ea typeface="Arial"/>
                <a:cs typeface="Arial"/>
              </a:rPr>
              <a:t>Consultar produtos, pesquisar e filtrar categorias, visualizar detalhes e cadastrar produtos.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41E7D4-5A64-4713-8741-5C252B8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3016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2E9E63"/>
                </a:solidFill>
                <a:latin typeface="Arial"/>
                <a:ea typeface="Arial"/>
                <a:cs typeface="Arial"/>
              </a:rPr>
              <a:t>Decisão de projeto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AAAFD6D-0077-4B71-A52B-F16C27D8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779008"/>
            <a:ext cx="8138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20332B"/>
                </a:solidFill>
                <a:latin typeface="Arial"/>
                <a:ea typeface="Arial"/>
                <a:cs typeface="Arial"/>
              </a:rPr>
              <a:t>Manter a proposta simples: informação útil primeiro, interação sem excesso de complexidade.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07EFB69-C380-4662-ACD9-6207C079876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6638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3C183E-F3F7-4F0D-9D2B-53E7608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02 · DESENVOLVIMENTO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9FDCF2-4828-49F6-9423-0E0C33A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Da interface estática à aplicação interativa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5FB9E1-5728-4673-9B68-69F3DAC3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Principais melhorias e decisões técnicas da etapa de finalização.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33A86AC-EC8B-4B07-8C15-6F9EC168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96016E1-59A2-489B-9D19-0CFF444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139696"/>
            <a:ext cx="5166360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0AB994-A5BC-4822-98BC-2D604266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42316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95015C-FD51-42DB-88E7-54C65E28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496312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13D56E-0780-407D-830B-A7375269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331720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Interface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AE644A-8236-44DF-836F-DC2FEF8E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4069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Cabeçalho, hero, catálogo, cadastro e rodapé organizados em seções.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7A12505-5C77-4A64-A766-E2418DD3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139696"/>
            <a:ext cx="5166360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734E41E-BBE9-47D8-A0D1-27C6E5E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42316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0D557-9111-4A92-A176-E3FC36FC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496312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63DA16-56B3-4439-92E6-52F461AA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331720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Interatividade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785891-4753-40B4-A7F8-E84F71CC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688336"/>
            <a:ext cx="4069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Busca, filtros, navegação, login, logout, detalhes, cadastro e edição.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6B515DB-65A9-470C-8344-E28F8FD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895344"/>
            <a:ext cx="5166360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9DED243-E5AB-4F48-919B-42A7FF08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788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87C93B2-4CE6-4D5D-B166-4B67ECA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251960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E033B9-C336-4CD8-9359-0A8B9ACE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08736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Persistência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EA098D4-8499-42DC-A06B-91258A10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443984"/>
            <a:ext cx="4069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localStorage para usuários, sessão e produtos cadastrados no protótipo.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2AEA81D-C204-4D1F-B1A4-589CEA83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895344"/>
            <a:ext cx="5166360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B8034E4-F95D-4394-B8FC-A436251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788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C0930F-BCFC-441D-B58E-973FA114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251960"/>
            <a:ext cx="438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FB97817-BAA0-4DA8-9496-A2CD8822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08736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Responsividade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0B162EE-0083-438F-8F55-5FEF99F6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443984"/>
            <a:ext cx="4069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Layout adaptado para desktop, tablet e mobile, sem overflow horizontal.</a:t>
            </a:r>
            <a:endParaRPr sz="1400"/>
          </a:p>
        </p:txBody>
      </p:sp>
      <p:sp>
        <p:nvSpPr>
          <p:cNvPr id="4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7F7944-D333-4C90-BD39-A111AD548C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96639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fb5f347804f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713"/>
            <a:ext cx="12192000" cy="68545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084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256777-ADF9-495B-97AE-3764A46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03 · FUNCIONAMENTO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108AA4-12ED-4FE8-8336-B8A34DA1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Páginas, navegação e principais funcionalidades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1B5C4A-4F81-4241-8665-17093F3B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Fluxo da aplicação demonstrado durante os testes.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FF9EC26-A65F-4EAE-8DB3-705E820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6701805-978E-4905-94DB-57B6A28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84832"/>
            <a:ext cx="1572768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6B9CFDC-1197-448E-8D71-878D9AC7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12848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01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6D1FAD-C093-4C71-B260-DB485ABB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0487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Início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21B6E43-13D7-4B33-9DA1-3A120FBB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7004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DDEFE6"/>
                </a:solidFill>
                <a:latin typeface="Arial"/>
                <a:ea typeface="Arial"/>
                <a:cs typeface="Arial"/>
              </a:rPr>
              <a:t>Apresentação + catálogo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187C4B2-5BF3-47AA-B095-F457524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44" y="2404872"/>
            <a:ext cx="182880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EFE1094-8D51-4474-81EC-4B108C1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84832"/>
            <a:ext cx="1572768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29348A9-0BA6-4D71-96FE-62B01C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212848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02</a:t>
            </a:r>
            <a:endParaRPr sz="8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786B50A-1E63-459C-BB05-5F757AC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40487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Busca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CB33897-0A05-4B2C-81FE-A56E456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67004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B6F66"/>
                </a:solidFill>
                <a:latin typeface="Arial"/>
                <a:ea typeface="Arial"/>
                <a:cs typeface="Arial"/>
              </a:rPr>
              <a:t>Nome + categoria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A1F99B-6F41-4B62-9D9A-6B8BE27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04872"/>
            <a:ext cx="182880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668B1B9-8952-43E2-AF13-3525189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84832"/>
            <a:ext cx="1572768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DE444-8F72-4EB4-B1A7-0C032778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212848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03</a:t>
            </a:r>
            <a:endParaRPr sz="8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3419E37-81E6-45AB-A188-6C2E2CC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40487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Cadastro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DE644AF-C221-40C2-88DE-94386B3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67004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B6F66"/>
                </a:solidFill>
                <a:latin typeface="Arial"/>
                <a:ea typeface="Arial"/>
                <a:cs typeface="Arial"/>
              </a:rPr>
              <a:t>Novo usuário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1FFA368-8B19-40E0-BD9A-035AD5E0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404872"/>
            <a:ext cx="182880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46A75E4-E5A1-4D43-B20B-7DE7B73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084832"/>
            <a:ext cx="1572768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7DCCB9-C7DF-4573-9E3B-845F759F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212848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04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02D65F-A7E2-48F8-B7A9-4EDFD58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40487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Login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483016-7712-4EE8-A540-DEB9A58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67004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5B6F66"/>
                </a:solidFill>
                <a:latin typeface="Arial"/>
                <a:ea typeface="Arial"/>
                <a:cs typeface="Arial"/>
              </a:rPr>
              <a:t>Sessão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B043E7A-F287-49BC-9C89-B198CC7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404872"/>
            <a:ext cx="182880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C5BBBBE-3346-4407-8D6D-6891EA9B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084832"/>
            <a:ext cx="1572768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8DB0A87-DA8D-4B05-9563-D3A63B9E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212848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05</a:t>
            </a:r>
            <a:endParaRPr sz="8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1359769-A317-4D60-BD78-7B9E742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40487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Sistema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A6B91AC-B71F-4908-9F37-34B1DAE1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67004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Meus produtos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DD4E6A4-174E-443F-8782-6B79BC1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404872"/>
            <a:ext cx="182880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6D0FA5A-78D2-4E8B-B803-6287CDF7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084832"/>
            <a:ext cx="1572768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543F7D5-31E8-4960-A588-E1CB38BC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212848"/>
            <a:ext cx="3108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2E9E63"/>
                </a:solidFill>
                <a:latin typeface="Arial"/>
                <a:ea typeface="Arial"/>
                <a:cs typeface="Arial"/>
              </a:rPr>
              <a:t>06</a:t>
            </a:r>
            <a:endParaRPr sz="8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721A5B9-6353-4CE4-BF79-A6B30054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Detalhes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986F6D9-7C6F-40B0-8ED6-1EBFEFD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67004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Vida útil + orientações</a:t>
            </a:r>
            <a:endParaRPr sz="12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5428FCE-B949-45FC-9FD7-7124912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566160"/>
            <a:ext cx="2971800" cy="214884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2700">
            <a:solidFill>
              <a:srgbClr val="BFD1C8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3B64F4C-44B5-4D44-801F-98B03B6D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566160"/>
            <a:ext cx="2971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12700">
            <a:solidFill>
              <a:srgbClr val="DCE9E2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0C88B54-190E-412D-94C5-AFD7BB1A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E4B8E67-6F45-49BF-92CD-9377023A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8AE"/>
          </a:solidFill>
          <a:ln xmlns:a="http://schemas.openxmlformats.org/drawingml/2006/main" w="12700">
            <a:solidFill>
              <a:srgbClr val="A5B8AE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E4CC54C-A4DA-4520-8336-60D3E9B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8AE"/>
          </a:solidFill>
          <a:ln xmlns:a="http://schemas.openxmlformats.org/drawingml/2006/main" w="12700">
            <a:solidFill>
              <a:srgbClr val="A5B8AE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9B9072C-7F0A-4401-9A4E-B76AB802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6160"/>
            <a:ext cx="2971800" cy="214884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2700">
            <a:solidFill>
              <a:srgbClr val="BFD1C8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61A7D62-932D-45CC-9460-656090A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6160"/>
            <a:ext cx="2971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12700">
            <a:solidFill>
              <a:srgbClr val="DCE9E2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3A1DA7B-BBE2-4A87-AA92-733C0E4B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9CD5FBA-3AAF-48EA-9997-3B1BEDE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8AE"/>
          </a:solidFill>
          <a:ln xmlns:a="http://schemas.openxmlformats.org/drawingml/2006/main" w="12700">
            <a:solidFill>
              <a:srgbClr val="A5B8AE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A0D505D-2EDD-45E7-803C-E90F9B77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8AE"/>
          </a:solidFill>
          <a:ln xmlns:a="http://schemas.openxmlformats.org/drawingml/2006/main" w="12700">
            <a:solidFill>
              <a:srgbClr val="A5B8AE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5D7FA45A-9EF1-4610-B792-1BAB64A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566160"/>
            <a:ext cx="2971800" cy="214884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2700">
            <a:solidFill>
              <a:srgbClr val="BFD1C8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D7279044-DD80-47F2-B22A-7CB0FC72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566160"/>
            <a:ext cx="2971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12700">
            <a:solidFill>
              <a:srgbClr val="DCE9E2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331F92C8-1642-42E4-985B-6E569EB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B3551591-7452-48BD-84AE-8091302A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8AE"/>
          </a:solidFill>
          <a:ln xmlns:a="http://schemas.openxmlformats.org/drawingml/2006/main" w="12700">
            <a:solidFill>
              <a:srgbClr val="A5B8AE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80CB5AC-E77F-4A04-A3C3-3A62DCF7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6667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B8AE"/>
          </a:solidFill>
          <a:ln xmlns:a="http://schemas.openxmlformats.org/drawingml/2006/main" w="12700">
            <a:solidFill>
              <a:srgbClr val="A5B8AE"/>
            </a:solidFill>
            <a:prstDash val="solid"/>
          </a:ln>
        </p:spPr>
      </p:sp>
      <p:sp>
        <p:nvSpPr>
          <p:cNvPr id="5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1A1C15B-45C1-40AA-8887-18006838FAC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pic>
        <p:nvPicPr>
          <p:cNvPr id="110" name="Imagem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ccc57e40e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90" y="3849624"/>
            <a:ext cx="2962654" cy="1865375"/>
          </a:xfrm>
          <a:prstGeom xmlns:a="http://schemas.openxmlformats.org/drawingml/2006/main" prst="rect">
            <a:avLst/>
          </a:prstGeom>
        </p:spPr>
      </p:pic>
      <p:pic>
        <p:nvPicPr>
          <p:cNvPr id="111" name="Imagem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e2c55c8d0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7136" y="3849624"/>
            <a:ext cx="2233613" cy="1861267"/>
          </a:xfrm>
          <a:prstGeom xmlns:a="http://schemas.openxmlformats.org/drawingml/2006/main" prst="rect">
            <a:avLst/>
          </a:prstGeom>
        </p:spPr>
      </p:pic>
      <p:pic>
        <p:nvPicPr>
          <p:cNvPr id="112" name="Imagem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e48debec849de"/>
          <a:srcRect xmlns:a="http://schemas.openxmlformats.org/drawingml/2006/main" l="9215" t="0" r="7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7907" y="3840480"/>
            <a:ext cx="2971801" cy="18704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69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D98D6F-55D0-4155-90AE-7BF0328A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04 · DADOS EXTERNOS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D670B0-5B16-4D21-9939-B2C79DDB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Consumo da API: Fetch + JSON + tratamento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FC5109-F9C5-431F-A9E3-DF9217E8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Integração com DummyJSON para demonstrar consumo de dados externos.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30FC7F-773A-494E-B7B2-D471298E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C387823-0A70-4DCD-B18E-1FBA743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139696"/>
            <a:ext cx="5532120" cy="3602736"/>
          </a:xfrm>
          <a:prstGeom xmlns:a="http://schemas.openxmlformats.org/drawingml/2006/main" prst="roundRect">
            <a:avLst>
              <a:gd name="adj" fmla="val 1777"/>
            </a:avLst>
          </a:prstGeom>
          <a:solidFill xmlns:a="http://schemas.openxmlformats.org/drawingml/2006/main">
            <a:srgbClr val="153F29"/>
          </a:solidFill>
          <a:ln xmlns:a="http://schemas.openxmlformats.org/drawingml/2006/main" w="12700">
            <a:solidFill>
              <a:srgbClr val="153F2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F159D3-C353-4B4D-AA19-F856FD4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39572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120">
                <a:solidFill>
                  <a:srgbClr val="7FD2A5"/>
                </a:solidFill>
                <a:latin typeface="Arial"/>
                <a:ea typeface="Arial"/>
                <a:cs typeface="Arial"/>
              </a:rPr>
              <a:t>fetch()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CF9640B-340A-48B8-8800-50A8EC8B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70632"/>
            <a:ext cx="4983480" cy="2487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const resposta = await fetch(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'https://dummyjson.com/products?limit=12'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)</a:t>
            </a:r>
            <a:endParaRPr sz="1200"/>
          </a:p>
          <a:p xmlns:a="http://schemas.openxmlformats.org/drawingml/2006/main">
            <a:pPr marL="0" indent="0" algn="l">
              <a:buNone/>
            </a:pP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const dados = await resposta.json()</a:t>
            </a:r>
            <a:endParaRPr sz="1200"/>
          </a:p>
          <a:p xmlns:a="http://schemas.openxmlformats.org/drawingml/2006/main">
            <a:pPr marL="0" indent="0" algn="l">
              <a:buNone/>
            </a:pP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const produtos = dados.products.map((produto) =&gt; ({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nome: produto.title,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categoria: produto.category,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descricao: produto.description,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preco: produto.price,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avaliacao: produto.rating,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imagem: produto.thumbnail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}))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F8B7FDA-0194-4911-869E-31C6F4A7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39696"/>
            <a:ext cx="5074920" cy="3602736"/>
          </a:xfrm>
          <a:prstGeom xmlns:a="http://schemas.openxmlformats.org/drawingml/2006/main" prst="roundRect">
            <a:avLst>
              <a:gd name="adj" fmla="val 17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AB67206-ACE4-4B44-A8B7-58AACD68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37744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Como o dado é tratado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FB689A1-2EF4-41D0-ADF0-791332C4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86207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9994FBC-833D-4F49-B434-254A839B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912364"/>
            <a:ext cx="274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CA24A7-D280-468A-B298-3D443EBB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834640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Requisição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397F46D-F739-4C19-AC82-759CAEF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834640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fetch() consulta o endpoint de produtos.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3E6A560-9FF7-44F1-A0E7-C0ED1E03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41985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34F25E-987D-4586-8606-0451EFB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470148"/>
            <a:ext cx="274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E524440-5B45-46D9-8A6C-9DBB764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392424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Validação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3B75553-121A-45AC-940F-C641F51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364992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resposta.ok evita seguir com resposta inválida.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8522A0-8331-4B33-BC5E-B48ABF33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977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D36070C-CA7E-4713-8849-7B41DCE8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027932"/>
            <a:ext cx="274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D2CF47-50A1-4B2A-B5AC-D8564FB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950208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JSON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5B8CB26-C393-4759-ABB1-285CCA23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950208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response.json() transforma o retorno em objeto JS.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E765F9F-0B4E-4B86-8708-12650FF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53542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8980CAB-8928-4140-ACA3-4E64869F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585716"/>
            <a:ext cx="274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455538B-BA4E-40AD-BBED-54822C76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50799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Mapeamento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E2E6173-C5EA-45CF-9892-AE2E5D8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498848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map() adapta os campos ao modelo do Vida Útil+.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4D2FE2B-CDB3-48BB-AAE1-01B84CF7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509320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0B2637A-3871-443C-851D-F755647B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5143500"/>
            <a:ext cx="274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189D3D-F7A7-4CC2-BE27-2FD2D525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065776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F6D45"/>
                </a:solidFill>
                <a:latin typeface="Arial"/>
                <a:ea typeface="Arial"/>
                <a:cs typeface="Arial"/>
              </a:rPr>
              <a:t>Erro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34FE4B5-A74B-479D-A725-B966CA98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5078101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try/catch/finally controla falhas e carregamento.</a:t>
            </a:r>
            <a:endParaRPr sz="120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14D4C35-6483-4589-BA57-76D0D7C87D4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1511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CCF770-DA70-4DFF-888C-04514E60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05 · ORGANIZAÇÃO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E31C09-0BFC-437F-A06F-F8A3114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React: componentes, estado e arquitetura SPA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1CC9DB-1733-4C98-A028-2F11AA4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A estrutura foi dividida por responsabilidade para facilitar manutenção e reutilização.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A30811-72F6-4B9F-83A2-5A79D070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FCDCE8-750D-4A25-8434-60A77AD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79776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7FD2A5"/>
                </a:solidFill>
                <a:latin typeface="Courier New"/>
                <a:ea typeface="Courier New"/>
                <a:cs typeface="Courier New"/>
              </a:rPr>
              <a:t>components/</a:t>
            </a:r>
            <a:endParaRPr sz="8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25C1C2-8868-4576-ABDC-328E2787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90088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Header.jsx</a:t>
            </a:r>
            <a:endParaRPr sz="86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DFFE58-3446-4F10-8BD4-D6B45800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00400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Hero.jsx</a:t>
            </a:r>
            <a:endParaRPr sz="86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F7E1C09-2283-4D27-9CED-5CE64587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10712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SearchBox.jsx</a:t>
            </a:r>
            <a:endParaRPr sz="86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4B4B026-8AD5-43AC-816C-A1048282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ProductCard.jsx</a:t>
            </a:r>
            <a:endParaRPr sz="86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7AF007-041B-4AEC-9D41-2956026A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31336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ProductList.jsx</a:t>
            </a:r>
            <a:endParaRPr sz="86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F41BA0-5EA7-4370-BBDC-12B61942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41648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7FD2A5"/>
                </a:solidFill>
                <a:latin typeface="Courier New"/>
                <a:ea typeface="Courier New"/>
                <a:cs typeface="Courier New"/>
              </a:rPr>
              <a:t>pages/</a:t>
            </a:r>
            <a:endParaRPr sz="86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AA825C-31F9-434B-87DE-FB71633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51960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Cadastro.jsx</a:t>
            </a:r>
            <a:endParaRPr sz="86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6B64C38-DBE5-4913-A088-B5E70753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462272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Login.jsx</a:t>
            </a:r>
            <a:endParaRPr sz="86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016CEF-F2B3-4E8A-88E6-9542EDA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72584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Sistema.jsx</a:t>
            </a:r>
            <a:endParaRPr sz="86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2D7E0D9-81B7-4E1A-B5B1-4D227FDD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882896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  CadastroProduto.jsx</a:t>
            </a:r>
            <a:endParaRPr sz="86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CC13E14-DBFD-4DBD-A9E2-C35649C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data/produtos.js</a:t>
            </a:r>
            <a:endParaRPr sz="86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A220F37-C187-4C73-8087-2C7D874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303520"/>
            <a:ext cx="22677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EEF8F2"/>
                </a:solidFill>
                <a:latin typeface="Courier New"/>
                <a:ea typeface="Courier New"/>
                <a:cs typeface="Courier New"/>
              </a:rPr>
              <a:t>App.jsx</a:t>
            </a:r>
            <a:endParaRPr sz="86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6541F0D-9BA2-4A07-AA46-CE963B89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4560"/>
            <a:ext cx="3465576" cy="121615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4458654-7D53-4425-BD41-CA7E267B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368296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useState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CD7EE4A-5DC7-4499-9D8D-C540BBEF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706624"/>
            <a:ext cx="2962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pagina · usuário · pesquisa · categoria · API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4269E6D-C399-4BD3-AC62-76643EF7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94560"/>
            <a:ext cx="3465576" cy="121615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4C9F99E-F4F6-4BA7-AF3E-8D08509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368296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useEffect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AD78D86-AF29-465B-A895-512C04E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706624"/>
            <a:ext cx="2962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sessão salva · carregamento da API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5E6CDF3-BC58-433A-983A-D63B5AD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75888"/>
            <a:ext cx="3465576" cy="121615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7BFFC5C-15E8-4699-890A-B5411328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3849624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Props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07555C2-554B-4C03-B77A-E7D1998E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4187952"/>
            <a:ext cx="2962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dados e funções compartilhados entre componentes</a:t>
            </a:r>
            <a:endParaRPr sz="14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BAC28C8-B03D-451B-B2A5-6968B97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675888"/>
            <a:ext cx="3465576" cy="121615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34C7CE5-8BD7-4EEB-8CDC-992D41D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3849624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SPA</a:t>
            </a:r>
            <a:endParaRPr sz="1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C25746A-CAE8-4579-B39B-9171DA0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4187952"/>
            <a:ext cx="2962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B6F66"/>
                </a:solidFill>
                <a:latin typeface="Arial"/>
                <a:ea typeface="Arial"/>
                <a:cs typeface="Arial"/>
              </a:rPr>
              <a:t>troca de telas por estado, sem recarregar o documento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5DAABDE-00A3-4023-BED4-1E877E6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66944"/>
            <a:ext cx="7315200" cy="585216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BFD1C8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02DF1BB-A53C-41C3-A21D-80E313E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13248"/>
            <a:ext cx="6812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20332B"/>
                </a:solidFill>
                <a:latin typeface="Arial"/>
                <a:ea typeface="Arial"/>
                <a:cs typeface="Arial"/>
              </a:rPr>
              <a:t>Decisão: manter navegação simples por estado, adequada ao escopo da atividade, sem adicionar dependências desnecessárias.</a:t>
            </a:r>
            <a:endParaRPr sz="14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35B2322-CB32-4F95-BD54-B63B6865004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  <p:pic>
        <p:nvPicPr>
          <p:cNvPr id="69" name="Imagem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afe7f674441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4068" y="2058494"/>
            <a:ext cx="3044952" cy="4332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848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2A74B8-6F07-41EA-BB5E-8141808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06 · RESPONSIVIDADE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AC8BCF-480A-4298-BACE-A8A42A01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A mesma aplicação em diferentes tamanhos de tela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8C2E16-FF71-4D42-8AD9-F9A3E4A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Teste visual em desktop, tablet e mobile.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24FBCF6-9883-4B1F-B6F5-15F993E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434E384-BEA6-4CAD-99F1-FDA628C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40864"/>
            <a:ext cx="5897880" cy="3154680"/>
          </a:xfrm>
          <a:prstGeom xmlns:a="http://schemas.openxmlformats.org/drawingml/2006/main" prst="roundRect">
            <a:avLst>
              <a:gd name="adj" fmla="val 2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CC9B2D4-A3B2-4881-8C6E-1DC3AD7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21208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 spc="130">
                <a:solidFill>
                  <a:srgbClr val="1F6D45"/>
                </a:solidFill>
                <a:latin typeface="Arial"/>
                <a:ea typeface="Arial"/>
                <a:cs typeface="Arial"/>
              </a:rPr>
              <a:t>DESKTOP</a:t>
            </a:r>
            <a:endParaRPr sz="9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E502A33-A002-4339-91A7-62776E2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450592"/>
            <a:ext cx="2331720" cy="2487168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F1F552B-636D-4A3C-B6EE-351C4DA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5166360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 spc="120">
                <a:solidFill>
                  <a:srgbClr val="1F6D45"/>
                </a:solidFill>
                <a:latin typeface="Arial"/>
                <a:ea typeface="Arial"/>
                <a:cs typeface="Arial"/>
              </a:rPr>
              <a:t>TABLET</a:t>
            </a:r>
            <a:endParaRPr sz="9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F377EA4-6D1D-418E-9471-75136E75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267712"/>
            <a:ext cx="1481328" cy="2907792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153F29"/>
          </a:solidFill>
          <a:ln xmlns:a="http://schemas.openxmlformats.org/drawingml/2006/main" w="12700">
            <a:solidFill>
              <a:srgbClr val="153F29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1C73AD9-8B4A-4EB0-9237-7A843715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3182112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Encontre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28E931E-9221-4586-9F67-905BB35F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349240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 spc="120">
                <a:solidFill>
                  <a:srgbClr val="2E9E63"/>
                </a:solidFill>
                <a:latin typeface="Arial"/>
                <a:ea typeface="Arial"/>
                <a:cs typeface="Arial"/>
              </a:rPr>
              <a:t>MOBILE</a:t>
            </a:r>
            <a:endParaRPr sz="92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E177FE-EA39-4A44-B722-664012EB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96712"/>
            <a:ext cx="10680192" cy="493776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BFD1C8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19A89FA-BB09-436A-BFC0-3DAA9F6D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843016"/>
            <a:ext cx="10195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20332B"/>
                </a:solidFill>
                <a:latin typeface="Arial"/>
                <a:ea typeface="Arial"/>
                <a:cs typeface="Arial"/>
              </a:rPr>
              <a:t>Critério verificado: menus e campos se reorganizam, cards se adaptam e não há overflow horizontal.</a:t>
            </a:r>
            <a:endParaRPr sz="1400"/>
          </a:p>
        </p:txBody>
      </p:sp>
      <p:sp>
        <p:nvSpPr>
          <p:cNvPr id="3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CACD6A-B1A1-4079-BAA0-95A53BA4DC6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  <p:pic>
        <p:nvPicPr>
          <p:cNvPr id="55" name="Imagem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9493f2c0047b1"/>
          <a:srcRect xmlns:a="http://schemas.openxmlformats.org/drawingml/2006/main" l="7083" t="6091" r="14484" b="6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1455" y="2214704"/>
            <a:ext cx="1737360" cy="2980944"/>
          </a:xfrm>
          <a:prstGeom xmlns:a="http://schemas.openxmlformats.org/drawingml/2006/main" prst="rect">
            <a:avLst/>
          </a:prstGeom>
        </p:spPr>
      </p:pic>
      <p:pic>
        <p:nvPicPr>
          <p:cNvPr id="56" name="Imagem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f73f3713b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037" y="2343252"/>
            <a:ext cx="5874017" cy="2807208"/>
          </a:xfrm>
          <a:prstGeom xmlns:a="http://schemas.openxmlformats.org/drawingml/2006/main" prst="rect">
            <a:avLst/>
          </a:prstGeom>
        </p:spPr>
      </p:pic>
      <p:pic>
        <p:nvPicPr>
          <p:cNvPr id="57" name="Imagem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cea795cfb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8430" y="2450592"/>
            <a:ext cx="2296778" cy="2569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115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06456DB-9598-4EE3-876B-D86C31F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07 · VALIDAÇÃO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28A3BA-0672-4940-A4F4-75AF9D4E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Testes realizados e correções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7DB0E6-A013-49EB-8E9D-659D181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Seis frentes de teste foram utilizadas antes da publicação.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720AACB-EB7C-4246-B72F-BE384D9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7A53323-4525-4FA9-AC71-11339C5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12848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D2D0F5-FC08-49EC-A8F2-88CB88E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13432"/>
            <a:ext cx="17465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4CC42A-4FC6-4E8B-A466-F962AABF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2212848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A79973-9E89-44C6-BC9C-AC61BD6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2313432"/>
            <a:ext cx="7168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VERIFICAÇÃO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14AB12A-38FF-450E-B4E1-ADCFEB4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212848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7F5EA1B-5CB4-400D-B3E8-977D126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313432"/>
            <a:ext cx="8321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137DA1E-6A69-4E78-9C90-49EF3B5F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6BFEC3B-0991-4ABB-A11C-43FE513D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2743200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73E1C4F-6F35-4668-8E1E-C51E724C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743200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93EC382-C132-46FE-B131-38FD48B7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843784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Usuário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1E03F0F-A815-4F5C-9CE3-918A1B7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2816352"/>
            <a:ext cx="7168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Cadastro, login, sessão, F5 e logout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912F4E1-43B6-4478-AF5F-3C15D97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2825496"/>
            <a:ext cx="6675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1C44DB5-14ED-4704-8F03-079F315E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2834640"/>
            <a:ext cx="6675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  <a:endParaRPr sz="9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F0AD57-A195-4E03-89F4-01D89B01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73552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13D525-A390-4F0A-A53A-9B42F83D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273552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DD83829-B50D-4B0F-99FB-BB6B0D17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273552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0B9273D-1444-4495-ABE0-CBBC1BE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74136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Produtos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C13311-0B3F-4EB0-B0E5-C776B710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3346704"/>
            <a:ext cx="7168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Cadastro, exibição, edição e detalhes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001D85F-31E4-41DA-A5CE-DAB69EE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3355848"/>
            <a:ext cx="6675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2752AE-C35E-4CA7-BEAA-6FBB9398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3364992"/>
            <a:ext cx="6675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7633674-12B6-4637-91FA-AFB67F15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03904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6915118-FEDA-4205-9CE8-297FE9D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803904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1994CC1-699B-4F2E-9E6C-10CEA540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803904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E186CC2-CBF6-4619-8BA3-BDFEA07E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04488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Pesquisa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320A94D-A522-409C-AB21-711A94A3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3877056"/>
            <a:ext cx="7168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Busca por nome + categoria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FE3CD06-863F-42F1-AD1A-8A223C7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3886200"/>
            <a:ext cx="6675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253E07E-7C5B-4893-B06D-5ABB8C81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3895344"/>
            <a:ext cx="6675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E402824-FE75-4DEB-8945-0237234E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34256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7ACBB6D-06C3-4BEA-BB06-BD4C82B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334256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4168479-C477-4A9F-95D2-69771BD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4334256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A9E8DE-3FE8-4BD7-BC23-F173CE7C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434840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API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BE65FC-F37E-43A4-9BB3-C1D99A9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4407408"/>
            <a:ext cx="7168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Dados, avaliação e erros</a:t>
            </a:r>
            <a:endParaRPr sz="12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4489628-ADD4-47F7-BF76-EBA5B5C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4416552"/>
            <a:ext cx="6675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9EAFAEE-B2E9-45AC-8739-9BD3C905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4425696"/>
            <a:ext cx="6675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63D9474-30B2-4967-8AF8-4872688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64608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F95A93B-1D53-4584-A50C-18415C4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864608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3DA1F424-AE3C-455D-AE28-EDE725AB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4864608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9188E99-8E5B-4F91-B37A-7991650F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965192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React / SPA</a:t>
            </a:r>
            <a:endParaRPr sz="12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CF83455-2815-408B-A64A-1AF275E4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4937760"/>
            <a:ext cx="7168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Componentes, estados, navegação e console</a:t>
            </a:r>
            <a:endParaRPr sz="120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AD43DD72-09E4-425A-B863-B9BF89D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4946904"/>
            <a:ext cx="6675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845A63C-333C-4209-9105-F0670BB3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4956048"/>
            <a:ext cx="6675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  <a:endParaRPr sz="9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4288082-EE0D-496A-8FCE-6D483FD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94960"/>
            <a:ext cx="19659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8A4FDD83-300E-4455-BB72-F9161AC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5394960"/>
            <a:ext cx="7388352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6BAA58D3-1C76-4957-A806-DFE55FE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5394960"/>
            <a:ext cx="105156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12700">
            <a:solidFill>
              <a:srgbClr val="D5E1DB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26F6AAA-48B7-4E25-B3CE-A1AB1E48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495544"/>
            <a:ext cx="17465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3F29"/>
                </a:solidFill>
                <a:latin typeface="Arial"/>
                <a:ea typeface="Arial"/>
                <a:cs typeface="Arial"/>
              </a:rPr>
              <a:t>Responsividade</a:t>
            </a:r>
            <a:endParaRPr sz="12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6A5723D-0F7F-4604-8ED1-9F39ABE8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5468112"/>
            <a:ext cx="7168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5B6F66"/>
                </a:solidFill>
                <a:latin typeface="Arial"/>
                <a:ea typeface="Arial"/>
                <a:cs typeface="Arial"/>
              </a:rPr>
              <a:t>Desktop, tablet, mobile e overflow</a:t>
            </a:r>
            <a:endParaRPr sz="120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2D3E610-C240-4BBD-A436-5031722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5477256"/>
            <a:ext cx="6675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E63"/>
          </a:solidFill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DB648E60-731B-4F61-836B-7F6A8D01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5486400"/>
            <a:ext cx="6675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  <a:endParaRPr sz="95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1A77992-9EB5-45F6-B104-64C34135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000982"/>
            <a:ext cx="10680192" cy="493776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53F29"/>
          </a:solidFill>
          <a:ln xmlns:a="http://schemas.openxmlformats.org/drawingml/2006/main" w="12700">
            <a:solidFill>
              <a:srgbClr val="153F29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8DC93B7F-80B8-49B3-9CCA-F1744C88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" y="6162514"/>
            <a:ext cx="10195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npm run build  →  build de produção concluído com sucesso</a:t>
            </a:r>
            <a:endParaRPr sz="1200"/>
          </a:p>
        </p:txBody>
      </p:sp>
      <p:sp>
        <p:nvSpPr>
          <p:cNvPr id="5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49E2ACE-6748-4DF9-9022-76D6C51B43F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24173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741ABC-E539-40C5-9A53-9B3C8D5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08 · PUBLICAÇÃO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2D2ACF-345E-4873-B250-DC3CE8F5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Código no GitHub e aplicação publicada na Vercel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AB5EA2-3E6A-4CAB-9F0F-13D8CBA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9903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5B6F66"/>
                </a:solidFill>
                <a:latin typeface="Arial"/>
                <a:ea typeface="Arial"/>
                <a:cs typeface="Arial"/>
              </a:rPr>
              <a:t>O projeto passou do ambiente local para acesso público pela internet.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010312-B562-412A-88E6-88793EE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9E6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217A643-822D-4B64-AA38-A12F43E8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0280"/>
            <a:ext cx="4892040" cy="3401568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8E432E-A677-44FC-B4E7-9C05A73A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514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2E9E63"/>
                </a:solidFill>
                <a:latin typeface="Arial"/>
                <a:ea typeface="Arial"/>
                <a:cs typeface="Arial"/>
              </a:rPr>
              <a:t>CÓDIGO-FONTE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377BF0-370E-4036-BDE3-C4E9C736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816352"/>
            <a:ext cx="1828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GitHub</a:t>
            </a:r>
            <a:endParaRPr sz="2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A88B85-E44F-4FB3-85A3-48C1B088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3374136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5B6F66"/>
                </a:solidFill>
                <a:latin typeface="Arial"/>
                <a:ea typeface="Arial"/>
                <a:cs typeface="Arial"/>
              </a:rPr>
              <a:t>Repositório completo do projeto</a:t>
            </a:r>
            <a:endParaRPr sz="1150"/>
          </a:p>
        </p:txBody>
      </p:sp>
      <p:sp>
        <p:nvSpPr>
          <p:cNvPr id="10" name="Text 8">
            <a:hlinkClick xmlns:r="http://schemas.openxmlformats.org/officeDocument/2006/relationships" xmlns:a="http://schemas.openxmlformats.org/drawingml/2006/main" r:id="Rcc6a0124de0a43aa"/>
            <a:extLst xmlns:a="http://schemas.openxmlformats.org/drawingml/2006/main">
              <a:ext uri="{FF2B5EF4-FFF2-40B4-BE49-F238E27FC236}">
                <a16:creationId xmlns:a16="http://schemas.microsoft.com/office/drawing/2014/main" id="{0FB2A466-EBF8-4CC0-9346-1EF6ED9E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3877056"/>
            <a:ext cx="3977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u="sng">
                <a:solidFill>
                  <a:srgbClr val="1F6D45"/>
                </a:solidFill>
                <a:latin typeface="Arial"/>
                <a:ea typeface="Arial"/>
                <a:cs typeface="Arial"/>
                <a:hlinkClick xmlns:r="http://schemas.openxmlformats.org/officeDocument/2006/relationships" r:id="R1749172be2624816"/>
              </a:rPr>
              <a:t>github.com/wendersonnCosta/vida-util-plus</a:t>
            </a:r>
            <a:endParaRPr sz="105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f90b4e61d48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2856" y="3657600"/>
            <a:ext cx="841248" cy="841248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0CEFA96-65BD-4C38-8CDF-F3D8402F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2240280"/>
            <a:ext cx="4892040" cy="3401568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1F6D45"/>
          </a:solidFill>
          <a:ln xmlns:a="http://schemas.openxmlformats.org/drawingml/2006/main" w="12700">
            <a:solidFill>
              <a:srgbClr val="1F6D45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273ADC2-DF2C-4F1E-8745-B18C80CE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AEE1C4"/>
                </a:solidFill>
                <a:latin typeface="Arial"/>
                <a:ea typeface="Arial"/>
                <a:cs typeface="Arial"/>
              </a:rPr>
              <a:t>APLICAÇÃO PUBLICADA</a:t>
            </a:r>
            <a:endParaRPr sz="9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6FEC2A5-1598-488E-A24A-7190E59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816352"/>
            <a:ext cx="1828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Vercel</a:t>
            </a:r>
            <a:endParaRPr sz="2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D548CA6-DCCA-4304-9AE6-C76D9EA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74136"/>
            <a:ext cx="3749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DCEFE5"/>
                </a:solidFill>
                <a:latin typeface="Arial"/>
                <a:ea typeface="Arial"/>
                <a:cs typeface="Arial"/>
              </a:rPr>
              <a:t>Acesso público à aplicação</a:t>
            </a:r>
            <a:endParaRPr sz="1150"/>
          </a:p>
        </p:txBody>
      </p:sp>
      <p:sp>
        <p:nvSpPr>
          <p:cNvPr id="17" name="Text 14">
            <a:hlinkClick xmlns:r="http://schemas.openxmlformats.org/officeDocument/2006/relationships" xmlns:a="http://schemas.openxmlformats.org/drawingml/2006/main" r:id="Rc279e63c2b5e4fd0"/>
            <a:extLst xmlns:a="http://schemas.openxmlformats.org/drawingml/2006/main">
              <a:ext uri="{FF2B5EF4-FFF2-40B4-BE49-F238E27FC236}">
                <a16:creationId xmlns:a16="http://schemas.microsoft.com/office/drawing/2014/main" id="{1D412795-9F08-40AD-8E9F-B839F2A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77056"/>
            <a:ext cx="3246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0dcccb65732146c4"/>
              </a:rPr>
              <a:t>vida-util-mais-plus.vercel.app</a:t>
            </a:r>
            <a:endParaRPr sz="1050"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115fb7c88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6960" y="3657600"/>
            <a:ext cx="841248" cy="841248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DB01AC6-1668-455F-92A6-1404ED9AF93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13789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038BCE-FA91-4A61-97B6-011097D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891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10">
                <a:solidFill>
                  <a:srgbClr val="2E9E63"/>
                </a:solidFill>
                <a:latin typeface="Arial"/>
                <a:ea typeface="Arial"/>
                <a:cs typeface="Arial"/>
              </a:rPr>
              <a:t>10 · CONCLUSÃO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BDA8E-CBBC-411D-AF91-C9024407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786384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O que entregamos com o Vida Útil+</a:t>
            </a:r>
            <a:endParaRPr sz="2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7941BA4-ACAE-4467-BB7E-2BAEC042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1901952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3EDBD97-B4F8-4DB5-9A3D-03DA2A89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Informar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C706DF-AD99-4BC4-98D9-625FD1A2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5384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6F66"/>
                </a:solidFill>
                <a:latin typeface="Arial"/>
                <a:ea typeface="Arial"/>
                <a:cs typeface="Arial"/>
              </a:rPr>
              <a:t>Catálogo e detalhes sobre durabilidade.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FF3D95-6B4E-426D-81F1-E3714E76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547872"/>
            <a:ext cx="1901952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ECD11EC-8A7A-4189-BFE3-421B1B80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3794760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Interagir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49ED508-146B-4104-9486-BE794D1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215384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6F66"/>
                </a:solidFill>
                <a:latin typeface="Arial"/>
                <a:ea typeface="Arial"/>
                <a:cs typeface="Arial"/>
              </a:rPr>
              <a:t>Busca, filtros, cadastro, login e edição.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756D7CF-5EC8-4DF4-B664-4540A29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3547872"/>
            <a:ext cx="1901952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5EA6EE1-9AAC-40BF-A385-F43ACC8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794760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Organizar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85073E2-26C3-4BDF-AAA3-07EB75A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4215384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6F66"/>
                </a:solidFill>
                <a:latin typeface="Arial"/>
                <a:ea typeface="Arial"/>
                <a:cs typeface="Arial"/>
              </a:rPr>
              <a:t>React, componentes, estado e SPA.</a:t>
            </a:r>
            <a:endParaRPr sz="9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9ABF5A0-9236-4910-B85F-249B1696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547872"/>
            <a:ext cx="1901952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37AA4C-632D-4AD7-9176-B20C806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794760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Conectar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48B08D-EFE9-40F5-9253-072A0D01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4215384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6F66"/>
                </a:solidFill>
                <a:latin typeface="Arial"/>
                <a:ea typeface="Arial"/>
                <a:cs typeface="Arial"/>
              </a:rPr>
              <a:t>API externa + JSON + tratamento de erros.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649AEEA-A149-4FFC-AEE3-ED58F126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547872"/>
            <a:ext cx="1901952" cy="1353312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9D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DF458E-91CD-4C92-8246-E6491E55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3794760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53F29"/>
                </a:solidFill>
                <a:latin typeface="Georgia"/>
                <a:ea typeface="Georgia"/>
                <a:cs typeface="Georgia"/>
              </a:rPr>
              <a:t>Disponibilizar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4E4C67-6BDB-4AF9-B869-0300E0C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4215384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B6F66"/>
                </a:solidFill>
                <a:latin typeface="Arial"/>
                <a:ea typeface="Arial"/>
                <a:cs typeface="Arial"/>
              </a:rPr>
              <a:t>GitHub + Vercel para acesso público.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CAD511-A220-45A3-B507-C64B96EE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26694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2E9E63"/>
                </a:solidFill>
                <a:latin typeface="Arial"/>
                <a:ea typeface="Arial"/>
                <a:cs typeface="Arial"/>
              </a:rPr>
              <a:t>Próxima evolução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BCEC656-86E2-4590-A1DA-B552288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5202936"/>
            <a:ext cx="7772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0332B"/>
                </a:solidFill>
                <a:latin typeface="Arial"/>
                <a:ea typeface="Arial"/>
                <a:cs typeface="Arial"/>
              </a:rPr>
              <a:t>Backend + banco de dados para persistência compartilhada e suporte a múltiplos usuários.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8BEDCBF-BB31-4700-87C4-AFABEFA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725403"/>
            <a:ext cx="2093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800" b="1">
                <a:solidFill>
                  <a:srgbClr val="1F6D45"/>
                </a:solidFill>
                <a:latin typeface="Georgia"/>
                <a:ea typeface="Georgia"/>
                <a:cs typeface="Georgia"/>
              </a:rPr>
              <a:t>Obrigado!</a:t>
            </a:r>
            <a:endParaRPr sz="2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F95CC97-E135-459A-9576-C689574A0D2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28816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DB8B210D-F74A-739F-F149-AD2891AC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799" y="2156725"/>
            <a:ext cx="883138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t>O desenvolvimento do </a:t>
            </a:r>
            <a:r>
              <a:rPr b="1"/>
              <a:t>Vida Útil+</a:t>
            </a:r>
            <a:r>
              <a:t> possibilitou transformar uma proposta inicialmente estática em uma aplicação web interativa, funcional e acessível, capaz de apresentar informações sobre a durabilidade dos produtos e estimular práticas de consumo mais conscientes. Dessa forma, o projeto não se limita ao desenvolvimento técnico de um site. Ele procura utilizar a tecnologia como uma ferramenta de </a:t>
            </a:r>
            <a:r>
              <a:rPr b="1"/>
              <a:t>educação e conscientização</a:t>
            </a:r>
            <a:r>
              <a:t>, aproximando recursos de desenvolvimento web de uma questão social e ambiental.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77074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2026-09-18T22:12:23.6820000Z</dcterms:created>
  <dcterms:modified xsi:type="dcterms:W3CDTF">2026-09-18T22:12:23.6820000Z</dcterms:modified>
</coreProperties>
</file>